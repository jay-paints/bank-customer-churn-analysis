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drawings/drawing2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3.xml" ContentType="application/vnd.openxmlformats-officedocument.themeOverride+xml"/>
  <Override PartName="/ppt/drawings/drawing3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4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5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6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7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5" r:id="rId7"/>
    <p:sldId id="262" r:id="rId8"/>
    <p:sldId id="263" r:id="rId9"/>
    <p:sldId id="260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8C3E"/>
    <a:srgbClr val="FAE5CF"/>
    <a:srgbClr val="FCF2E7"/>
    <a:srgbClr val="FFFFFF"/>
    <a:srgbClr val="2C87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91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usti\Downloads\Bank_churn_ppt\Bank_churn_draft%20-%20Char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5" Type="http://schemas.openxmlformats.org/officeDocument/2006/relationships/chartUserShapes" Target="../drawings/drawing1.xml"/><Relationship Id="rId4" Type="http://schemas.openxmlformats.org/officeDocument/2006/relationships/oleObject" Target="file:///C:\Users\justi\Downloads\Bank_churn_ppt\Bank_churn_draft%20-%20Charts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5" Type="http://schemas.openxmlformats.org/officeDocument/2006/relationships/chartUserShapes" Target="../drawings/drawing2.xml"/><Relationship Id="rId4" Type="http://schemas.openxmlformats.org/officeDocument/2006/relationships/oleObject" Target="file:///C:\Users\justi\Downloads\Bank_churn_ppt\Bank_churn_draft%20-%20Charts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4.xml"/><Relationship Id="rId1" Type="http://schemas.microsoft.com/office/2011/relationships/chartStyle" Target="style4.xml"/><Relationship Id="rId5" Type="http://schemas.openxmlformats.org/officeDocument/2006/relationships/chartUserShapes" Target="../drawings/drawing3.xml"/><Relationship Id="rId4" Type="http://schemas.openxmlformats.org/officeDocument/2006/relationships/oleObject" Target="file:///C:\Users\justi\Downloads\Bank_churn_ppt\Bank_churn_draft%20-%20Charts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C:\Users\justi\Downloads\Bank_churn_ppt\Bank_churn_draft%20-%20Charts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C:\Users\justi\Downloads\Bank_churn_ppt\Bank_churn_draft%20-%20Charts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file:///C:\Users\justi\Downloads\Bank_churn_ppt\Bank_churn_draft%20-%20Charts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file:///C:\Users\justi\Downloads\Bank_churn_ppt\Bank_churn_draft%20-%20Charts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usti\Downloads\Bank_churn_ppt\Bank_churn_draft%20-%20Charts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r>
              <a:rPr lang="en-US" sz="1600" b="1" dirty="0">
                <a:solidFill>
                  <a:schemeClr val="accent6"/>
                </a:solidFill>
                <a:latin typeface="Aptos" panose="020B0004020202020204" pitchFamily="34" charset="0"/>
              </a:rPr>
              <a:t>Churn Rate </a:t>
            </a: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Above</a:t>
            </a:r>
            <a:r>
              <a:rPr lang="en-US" sz="1600" b="1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18% Benchmark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c:rich>
      </c:tx>
      <c:layout>
        <c:manualLayout>
          <c:xMode val="edge"/>
          <c:yMode val="edge"/>
          <c:x val="0.23247335385892268"/>
          <c:y val="2.777763631965574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Sheet1!$C$4</c:f>
              <c:strCache>
                <c:ptCount val="1"/>
                <c:pt idx="0">
                  <c:v>Rate</c:v>
                </c:pt>
              </c:strCache>
            </c:strRef>
          </c:tx>
          <c:explosion val="2"/>
          <c:dPt>
            <c:idx val="0"/>
            <c:bubble3D val="0"/>
            <c:spPr>
              <a:solidFill>
                <a:srgbClr val="ED7D3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84A-450B-A6DC-3B1E839B75E1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84A-450B-A6DC-3B1E839B75E1}"/>
              </c:ext>
            </c:extLst>
          </c:dPt>
          <c:dLbls>
            <c:dLbl>
              <c:idx val="0"/>
              <c:layout>
                <c:manualLayout>
                  <c:x val="0.22182342424621326"/>
                  <c:y val="-1.9605641662418551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algn="ctr">
                      <a:defRPr sz="2400" b="1" i="0" u="none" strike="noStrike" kern="1200" baseline="0">
                        <a:solidFill>
                          <a:schemeClr val="accent6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defRPr>
                    </a:pPr>
                    <a:r>
                      <a: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Aptos" panose="020B0004020202020204" pitchFamily="34" charset="0"/>
                      </a:rPr>
                      <a:t>Churn</a:t>
                    </a:r>
                    <a:r>
                      <a:rPr lang="en-US" sz="11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ptos" panose="020B0004020202020204" pitchFamily="34" charset="0"/>
                      </a:rPr>
                      <a:t> Rate</a:t>
                    </a:r>
                    <a:r>
                      <a:rPr 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Aptos" panose="020B0004020202020204" pitchFamily="34" charset="0"/>
                      </a:rPr>
                      <a:t> </a:t>
                    </a:r>
                    <a:fld id="{3A3FA06D-0C3B-48A5-BA9F-DE8D0179FC78}" type="VALUE">
                      <a:rPr lang="en-US" sz="2800">
                        <a:solidFill>
                          <a:schemeClr val="accent6"/>
                        </a:solidFill>
                        <a:latin typeface="Aptos" panose="020B0004020202020204" pitchFamily="34" charset="0"/>
                      </a:rPr>
                      <a:pPr algn="ctr">
                        <a:defRPr sz="2400" b="1">
                          <a:solidFill>
                            <a:schemeClr val="accent6"/>
                          </a:solidFill>
                          <a:latin typeface="Aptos" panose="020B0004020202020204" pitchFamily="34" charset="0"/>
                        </a:defRPr>
                      </a:pPr>
                      <a:t>[VALUE]</a:t>
                    </a:fld>
                    <a:endParaRPr lang="en-US" sz="1100" dirty="0">
                      <a:solidFill>
                        <a:schemeClr val="bg1">
                          <a:lumMod val="50000"/>
                        </a:schemeClr>
                      </a:solidFill>
                      <a:latin typeface="Aptos" panose="020B0004020202020204" pitchFamily="34" charset="0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sz="2400" b="1" i="0" u="none" strike="noStrike" kern="1200" baseline="0">
                      <a:solidFill>
                        <a:schemeClr val="accent6"/>
                      </a:solidFill>
                      <a:latin typeface="Aptos" panose="020B00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031487149129899"/>
                      <c:h val="0.2195831794976256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84A-450B-A6DC-3B1E839B75E1}"/>
                </c:ext>
              </c:extLst>
            </c:dLbl>
            <c:dLbl>
              <c:idx val="1"/>
              <c:layout>
                <c:manualLayout>
                  <c:x val="0.50273672514194101"/>
                  <c:y val="1.4597569790991324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00" b="1" i="0" u="none" strike="noStrike" kern="1200" baseline="0">
                        <a:solidFill>
                          <a:schemeClr val="accent4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defRPr>
                    </a:pPr>
                    <a:r>
                      <a:rPr lang="en-US" sz="1100" b="1" dirty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t>Retention</a:t>
                    </a:r>
                    <a:r>
                      <a:rPr lang="en-US" sz="1100" b="1" baseline="0" dirty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t> Rate</a:t>
                    </a:r>
                    <a:endParaRPr lang="en-US" sz="1100" b="1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  <a:p>
                    <a:pPr>
                      <a:defRPr sz="1100" b="1">
                        <a:solidFill>
                          <a:schemeClr val="accent4"/>
                        </a:solidFill>
                        <a:latin typeface="Aptos" panose="020B0004020202020204" pitchFamily="34" charset="0"/>
                      </a:defRPr>
                    </a:pPr>
                    <a:fld id="{2B4B998A-FDD7-4F38-9052-463809800720}" type="VALUE">
                      <a:rPr lang="en-US" sz="2800" b="1">
                        <a:solidFill>
                          <a:schemeClr val="accent4"/>
                        </a:solidFill>
                      </a:rPr>
                      <a:pPr>
                        <a:defRPr sz="1100" b="1">
                          <a:solidFill>
                            <a:schemeClr val="accent4"/>
                          </a:solidFill>
                          <a:latin typeface="Aptos" panose="020B0004020202020204" pitchFamily="34" charset="0"/>
                        </a:defRPr>
                      </a:pPr>
                      <a:t>[VALUE]</a:t>
                    </a:fld>
                    <a:endParaRPr lang="en-GH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chemeClr val="accent4"/>
                      </a:solidFill>
                      <a:latin typeface="Aptos" panose="020B00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055643051266508"/>
                      <c:h val="0.21999564276605998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84A-450B-A6DC-3B1E839B75E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G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Sheet1!$B$5:$B$6</c:f>
              <c:strCache>
                <c:ptCount val="2"/>
                <c:pt idx="0">
                  <c:v>Churned</c:v>
                </c:pt>
                <c:pt idx="1">
                  <c:v>Retained</c:v>
                </c:pt>
              </c:strCache>
            </c:strRef>
          </c:cat>
          <c:val>
            <c:numRef>
              <c:f>Sheet1!$C$5:$C$6</c:f>
              <c:numCache>
                <c:formatCode>0.0%</c:formatCode>
                <c:ptCount val="2"/>
                <c:pt idx="0">
                  <c:v>0.20399999999999999</c:v>
                </c:pt>
                <c:pt idx="1">
                  <c:v>0.79600000000000004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84A-450B-A6DC-3B1E839B75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7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GH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Churn</a:t>
            </a:r>
            <a:r>
              <a:rPr lang="en-US" sz="1800" b="1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Rate Rises with Age</a:t>
            </a:r>
          </a:p>
          <a:p>
            <a:pPr algn="l">
              <a:defRPr>
                <a:latin typeface="Aptos" panose="020B0004020202020204" pitchFamily="34" charset="0"/>
              </a:defRPr>
            </a:pPr>
            <a:endParaRPr lang="en-US" sz="500" b="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l">
              <a:defRPr>
                <a:latin typeface="Aptos" panose="020B0004020202020204" pitchFamily="34" charset="0"/>
              </a:defRPr>
            </a:pPr>
            <a:r>
              <a:rPr 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Churn Rate by</a:t>
            </a:r>
            <a:r>
              <a:rPr lang="en-US" sz="1400" b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Age Group</a:t>
            </a:r>
            <a:endParaRPr lang="en-US" sz="1400" b="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c:rich>
      </c:tx>
      <c:layout>
        <c:manualLayout>
          <c:xMode val="edge"/>
          <c:yMode val="edge"/>
          <c:x val="0.10402516482857185"/>
          <c:y val="2.31480285614125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GH"/>
        </a:p>
      </c:txPr>
    </c:title>
    <c:autoTitleDeleted val="0"/>
    <c:plotArea>
      <c:layout>
        <c:manualLayout>
          <c:layoutTarget val="inner"/>
          <c:xMode val="edge"/>
          <c:yMode val="edge"/>
          <c:x val="0.12347410115020879"/>
          <c:y val="0.26618407662949828"/>
          <c:w val="0.8299461166968668"/>
          <c:h val="0.52127848876328475"/>
        </c:manualLayout>
      </c:layout>
      <c:areaChart>
        <c:grouping val="standard"/>
        <c:varyColors val="0"/>
        <c:ser>
          <c:idx val="0"/>
          <c:order val="0"/>
          <c:tx>
            <c:strRef>
              <c:f>Sheet1!$D$41</c:f>
              <c:strCache>
                <c:ptCount val="1"/>
                <c:pt idx="0">
                  <c:v>Churn Rate</c:v>
                </c:pt>
              </c:strCache>
            </c:strRef>
          </c:tx>
          <c:spPr>
            <a:noFill/>
            <a:ln w="19050" cap="flat">
              <a:solidFill>
                <a:srgbClr val="ED7D31"/>
              </a:solidFill>
            </a:ln>
            <a:effectLst/>
          </c:spPr>
          <c:cat>
            <c:strRef>
              <c:f>Sheet1!$C$42:$C$54</c:f>
              <c:strCache>
                <c:ptCount val="12"/>
                <c:pt idx="0">
                  <c:v>18-24</c:v>
                </c:pt>
                <c:pt idx="1">
                  <c:v>25-29</c:v>
                </c:pt>
                <c:pt idx="2">
                  <c:v>30-34</c:v>
                </c:pt>
                <c:pt idx="3">
                  <c:v>35-39</c:v>
                </c:pt>
                <c:pt idx="4">
                  <c:v>40-44</c:v>
                </c:pt>
                <c:pt idx="5">
                  <c:v>45-49</c:v>
                </c:pt>
                <c:pt idx="6">
                  <c:v>50-54</c:v>
                </c:pt>
                <c:pt idx="7">
                  <c:v>55-59</c:v>
                </c:pt>
                <c:pt idx="8">
                  <c:v>60-64</c:v>
                </c:pt>
                <c:pt idx="9">
                  <c:v>65-69</c:v>
                </c:pt>
                <c:pt idx="10">
                  <c:v>70-74</c:v>
                </c:pt>
                <c:pt idx="11">
                  <c:v>75+</c:v>
                </c:pt>
              </c:strCache>
            </c:strRef>
          </c:cat>
          <c:val>
            <c:numRef>
              <c:f>Sheet1!$D$42:$D$54</c:f>
              <c:numCache>
                <c:formatCode>General</c:formatCode>
                <c:ptCount val="13"/>
                <c:pt idx="0">
                  <c:v>7.4702886247877756E-2</c:v>
                </c:pt>
                <c:pt idx="1">
                  <c:v>7.5165806927044956E-2</c:v>
                </c:pt>
                <c:pt idx="2">
                  <c:v>9.107551487414188E-2</c:v>
                </c:pt>
                <c:pt idx="3">
                  <c:v>0.14960282436010591</c:v>
                </c:pt>
                <c:pt idx="4">
                  <c:v>0.26802721088435372</c:v>
                </c:pt>
                <c:pt idx="5">
                  <c:v>0.46352941176470586</c:v>
                </c:pt>
                <c:pt idx="6">
                  <c:v>0.58351409978308022</c:v>
                </c:pt>
                <c:pt idx="7">
                  <c:v>0.53273809523809523</c:v>
                </c:pt>
                <c:pt idx="8">
                  <c:v>0.4</c:v>
                </c:pt>
                <c:pt idx="9">
                  <c:v>0.18320610687022901</c:v>
                </c:pt>
                <c:pt idx="10">
                  <c:v>0.11363636363636363</c:v>
                </c:pt>
                <c:pt idx="11">
                  <c:v>2.2221999999999999E-2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A5-4027-A705-ADCDD3DCA7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56355999"/>
        <c:axId val="556356959"/>
      </c:areaChart>
      <c:catAx>
        <c:axId val="5563559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r>
                  <a:rPr 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Age</a:t>
                </a:r>
                <a:r>
                  <a:rPr lang="en-US" sz="9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 Group</a:t>
                </a:r>
                <a:endParaRPr 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anose="020B0604020202020204" pitchFamily="34" charset="0"/>
                </a:endParaRPr>
              </a:p>
            </c:rich>
          </c:tx>
          <c:layout>
            <c:manualLayout>
              <c:xMode val="edge"/>
              <c:yMode val="edge"/>
              <c:x val="0.44405677725417614"/>
              <c:y val="0.875583642132970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cross"/>
        <c:tickLblPos val="nextTo"/>
        <c:spPr>
          <a:noFill/>
          <a:ln w="9525" cap="flat" cmpd="sng" algn="ctr">
            <a:solidFill>
              <a:srgbClr val="ED7D31">
                <a:alpha val="99000"/>
              </a:srgbClr>
            </a:solidFill>
            <a:round/>
          </a:ln>
          <a:effectLst/>
        </c:spPr>
        <c:txPr>
          <a:bodyPr rot="-27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GH"/>
          </a:p>
        </c:txPr>
        <c:crossAx val="556356959"/>
        <c:crosses val="autoZero"/>
        <c:auto val="1"/>
        <c:lblAlgn val="ctr"/>
        <c:lblOffset val="100"/>
        <c:noMultiLvlLbl val="0"/>
      </c:catAx>
      <c:valAx>
        <c:axId val="556356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r>
                  <a:rPr 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Churn</a:t>
                </a:r>
                <a:r>
                  <a:rPr lang="en-US" sz="9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 Rate</a:t>
                </a:r>
                <a:endParaRPr 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anose="020B0604020202020204" pitchFamily="34" charset="0"/>
                </a:endParaRPr>
              </a:p>
            </c:rich>
          </c:tx>
          <c:layout>
            <c:manualLayout>
              <c:xMode val="edge"/>
              <c:yMode val="edge"/>
              <c:x val="1.2754340846828667E-2"/>
              <c:y val="0.43874392609332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#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+mn-ea"/>
                <a:cs typeface="Arial" panose="020B0604020202020204" pitchFamily="34" charset="0"/>
              </a:defRPr>
            </a:pPr>
            <a:endParaRPr lang="en-GH"/>
          </a:p>
        </c:txPr>
        <c:crossAx val="55635599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GH"/>
    </a:p>
  </c:txPr>
  <c:externalData r:id="rId4">
    <c:autoUpdate val="0"/>
  </c:externalData>
  <c:userShapes r:id="rId5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Sheet1!$C$132</c:f>
              <c:strCache>
                <c:ptCount val="1"/>
                <c:pt idx="0">
                  <c:v>Female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ED7D3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6A3-42CA-8DB9-D924E97EAE2C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6A3-42CA-8DB9-D924E97EAE2C}"/>
              </c:ext>
            </c:extLst>
          </c:dPt>
          <c:dLbls>
            <c:dLbl>
              <c:idx val="0"/>
              <c:layout>
                <c:manualLayout>
                  <c:x val="-0.15708602775990091"/>
                  <c:y val="-9.6456597933451696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4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ptos" panose="020B0004020202020204" pitchFamily="34" charset="0"/>
                        <a:ea typeface="+mn-ea"/>
                        <a:cs typeface="+mn-cs"/>
                      </a:defRPr>
                    </a:pPr>
                    <a:fld id="{CD652B97-0575-4097-A3B6-989B1214FEC3}" type="PERCENTAGE">
                      <a:rPr lang="en-US" sz="1600" b="1">
                        <a:latin typeface="Aptos" panose="020B0004020202020204" pitchFamily="34" charset="0"/>
                        <a:cs typeface="Arial" panose="020B0604020202020204" pitchFamily="34" charset="0"/>
                      </a:rPr>
                      <a:pPr>
                        <a:defRPr sz="1400">
                          <a:latin typeface="Aptos" panose="020B0004020202020204" pitchFamily="34" charset="0"/>
                        </a:defRPr>
                      </a:pPr>
                      <a:t>[PERCENTAGE]</a:t>
                    </a:fld>
                    <a:endParaRPr lang="en-GH"/>
                  </a:p>
                </c:rich>
              </c:tx>
              <c:numFmt formatCode="#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ptos" panose="020B0004020202020204" pitchFamily="34" charset="0"/>
                      <a:ea typeface="+mn-ea"/>
                      <a:cs typeface="+mn-cs"/>
                    </a:defRPr>
                  </a:pPr>
                  <a:endParaRPr lang="en-GH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535980662819017"/>
                      <c:h val="0.17325048932586823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B6A3-42CA-8DB9-D924E97EAE2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GH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Sheet1!$D$132:$E$132</c:f>
              <c:numCache>
                <c:formatCode>General</c:formatCode>
                <c:ptCount val="2"/>
                <c:pt idx="0">
                  <c:v>0.25071500000000002</c:v>
                </c:pt>
                <c:pt idx="1">
                  <c:v>0.74928499999999998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6A3-42CA-8DB9-D924E97EAE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69"/>
        <c:holeSize val="6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GH"/>
    </a:p>
  </c:txPr>
  <c:externalData r:id="rId4">
    <c:autoUpdate val="0"/>
  </c:externalData>
  <c:userShapes r:id="rId5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Sheet1!$C$133</c:f>
              <c:strCache>
                <c:ptCount val="1"/>
                <c:pt idx="0">
                  <c:v>Male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ED7D3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969-43AF-B8C3-D4DB7EBD313B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969-43AF-B8C3-D4DB7EBD313B}"/>
              </c:ext>
            </c:extLst>
          </c:dPt>
          <c:dLbls>
            <c:dLbl>
              <c:idx val="0"/>
              <c:layout>
                <c:manualLayout>
                  <c:x val="-0.2235992486686246"/>
                  <c:y val="-4.5099685921070616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600" b="0" i="0" u="none" strike="noStrike" kern="1200" baseline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ptos" panose="020B0004020202020204" pitchFamily="34" charset="0"/>
                        <a:ea typeface="+mn-ea"/>
                        <a:cs typeface="+mn-cs"/>
                      </a:defRPr>
                    </a:pPr>
                    <a:fld id="{C7C8C871-1387-45F6-B333-497742E00CC1}" type="PERCENTAGE">
                      <a:rPr lang="en-US" sz="1600" b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ptos" panose="020B0004020202020204" pitchFamily="34" charset="0"/>
                        <a:cs typeface="Arial" panose="020B0604020202020204" pitchFamily="34" charset="0"/>
                      </a:rPr>
                      <a:pPr>
                        <a:defRPr sz="16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ptos" panose="020B0004020202020204" pitchFamily="34" charset="0"/>
                        </a:defRPr>
                      </a:pPr>
                      <a:t>[PERCENTAGE]</a:t>
                    </a:fld>
                    <a:endParaRPr lang="en-GH"/>
                  </a:p>
                </c:rich>
              </c:tx>
              <c:numFmt formatCode="#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0" i="0" u="none" strike="noStrike" kern="1200" baseline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ptos" panose="020B0004020202020204" pitchFamily="34" charset="0"/>
                      <a:ea typeface="+mn-ea"/>
                      <a:cs typeface="+mn-cs"/>
                    </a:defRPr>
                  </a:pPr>
                  <a:endParaRPr lang="en-GH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49938078424471"/>
                      <c:h val="0.1668868891594468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B969-43AF-B8C3-D4DB7EBD313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GH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Sheet1!$D$133:$E$133</c:f>
              <c:numCache>
                <c:formatCode>General</c:formatCode>
                <c:ptCount val="2"/>
                <c:pt idx="0">
                  <c:v>0.16455900000000001</c:v>
                </c:pt>
                <c:pt idx="1">
                  <c:v>0.83544099999999999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969-43AF-B8C3-D4DB7EBD31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01"/>
        <c:holeSize val="6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GH"/>
    </a:p>
  </c:txPr>
  <c:externalData r:id="rId4">
    <c:autoUpdate val="0"/>
  </c:externalData>
  <c:userShapes r:id="rId5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400" b="0" i="0" u="none" strike="noStrike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r>
              <a:rPr lang="en-US" sz="1400" b="1" i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Inactive Customers are Two Times More Likely to Leave than Those Who Remain Engaged </a:t>
            </a:r>
          </a:p>
          <a:p>
            <a:pPr algn="l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defRPr>
            </a:pPr>
            <a:endParaRPr lang="en-US" sz="500" b="0" baseline="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  <a:p>
            <a:pPr algn="l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defRPr>
            </a:pPr>
            <a:r>
              <a:rPr lang="en-US" sz="1200" b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Churn Rate by Activity Status</a:t>
            </a:r>
            <a:endParaRPr lang="en-US" sz="1200" b="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c:rich>
      </c:tx>
      <c:layout>
        <c:manualLayout>
          <c:xMode val="edge"/>
          <c:yMode val="edge"/>
          <c:x val="0.12174291649873353"/>
          <c:y val="5.01920993005615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400" b="0" i="0" u="none" strike="noStrike" kern="1200" spc="0" baseline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2303675966457468E-2"/>
          <c:y val="0.34732220682878412"/>
          <c:w val="0.95635438613443324"/>
          <c:h val="0.570714489686742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Sheet1!$G$181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6A4-4091-B277-4C517A749F8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GH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B6A4-4091-B277-4C517A749F86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200" b="1" i="0" u="none" strike="noStrike" kern="1200" baseline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pPr>
                    <a:fld id="{C7568AED-5FC1-432C-A8E7-34A892D58E41}" type="VALUE">
                      <a:rPr lang="en-US" sz="16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rPr>
                      <a:pPr>
                        <a:defRPr sz="1200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pPr>
                      <a:t>[VALUE]</a:t>
                    </a:fld>
                    <a:endParaRPr lang="en-GH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GH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B6A4-4091-B277-4C517A749F8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G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Sheet1!$C$182:$C$183</c:f>
              <c:strCache>
                <c:ptCount val="2"/>
                <c:pt idx="0">
                  <c:v>Inactive</c:v>
                </c:pt>
                <c:pt idx="1">
                  <c:v>Active</c:v>
                </c:pt>
              </c:strCache>
            </c:strRef>
          </c:cat>
          <c:val>
            <c:numRef>
              <c:f>Sheet1!$G$182:$G$183</c:f>
              <c:numCache>
                <c:formatCode>0.0%</c:formatCode>
                <c:ptCount val="2"/>
                <c:pt idx="0">
                  <c:v>0.268509</c:v>
                </c:pt>
                <c:pt idx="1">
                  <c:v>0.14269100000000001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6A4-4091-B277-4C517A749F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1"/>
        <c:overlap val="-27"/>
        <c:axId val="603202143"/>
        <c:axId val="603202623"/>
      </c:barChart>
      <c:catAx>
        <c:axId val="603202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Arial" panose="020B0604020202020204" pitchFamily="34" charset="0"/>
              </a:defRPr>
            </a:pPr>
            <a:endParaRPr lang="en-GH"/>
          </a:p>
        </c:txPr>
        <c:crossAx val="603202623"/>
        <c:crosses val="autoZero"/>
        <c:auto val="1"/>
        <c:lblAlgn val="ctr"/>
        <c:lblOffset val="100"/>
        <c:noMultiLvlLbl val="0"/>
      </c:catAx>
      <c:valAx>
        <c:axId val="603202623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6032021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GH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r>
              <a:rPr lang="en-US" sz="1500" b="1" i="0" u="none" strike="noStrike" kern="1200" spc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1-Product Customers Dominate Churn Volume, while 3 and 4-Product Customers Show Unexpectedly High Churn Rates Despite Smaller Numbers.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ptos" panose="020B0004020202020204" pitchFamily="34" charset="0"/>
              </a:defRPr>
            </a:pPr>
            <a:endParaRPr lang="en-US" sz="500" b="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ptos" panose="020B0004020202020204" pitchFamily="34" charset="0"/>
              </a:defRPr>
            </a:pPr>
            <a:r>
              <a: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Churn</a:t>
            </a:r>
            <a:r>
              <a:rPr lang="en-US" sz="1200" b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Rate and Volume Across Product Tiers</a:t>
            </a:r>
            <a:endParaRPr lang="en-US" sz="1200" b="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c:rich>
      </c:tx>
      <c:layout>
        <c:manualLayout>
          <c:xMode val="edge"/>
          <c:yMode val="edge"/>
          <c:x val="0.11044805086464449"/>
          <c:y val="2.31225248817164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l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GH"/>
        </a:p>
      </c:txPr>
    </c:title>
    <c:autoTitleDeleted val="0"/>
    <c:plotArea>
      <c:layout>
        <c:manualLayout>
          <c:layoutTarget val="inner"/>
          <c:xMode val="edge"/>
          <c:yMode val="edge"/>
          <c:x val="6.5457526701779734E-2"/>
          <c:y val="0.37429465531696932"/>
          <c:w val="0.8733960949931594"/>
          <c:h val="0.4948575383669183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Sheet1!$D$158</c:f>
              <c:strCache>
                <c:ptCount val="1"/>
                <c:pt idx="0">
                  <c:v>Retained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3303504847129223E-3"/>
                  <c:y val="-7.7074845744103018E-2"/>
                </c:manualLayout>
              </c:layout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Aptos" panose="020B00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GH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375-4746-9EE4-C44DD435691D}"/>
                </c:ext>
              </c:extLst>
            </c:dLbl>
            <c:dLbl>
              <c:idx val="1"/>
              <c:layout>
                <c:manualLayout>
                  <c:x val="-4.2722598684630851E-17"/>
                  <c:y val="-5.0098649733666963E-2"/>
                </c:manualLayout>
              </c:layout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Aptos" panose="020B00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GH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75-4746-9EE4-C44DD435691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375-4746-9EE4-C44DD435691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375-4746-9EE4-C44DD435691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G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Sheet1!$C$159:$C$162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Sheet1!$D$159:$D$162</c:f>
              <c:numCache>
                <c:formatCode>General</c:formatCode>
                <c:ptCount val="4"/>
                <c:pt idx="0">
                  <c:v>3675</c:v>
                </c:pt>
                <c:pt idx="1">
                  <c:v>4242</c:v>
                </c:pt>
                <c:pt idx="2">
                  <c:v>46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375-4746-9EE4-C44DD435691D}"/>
            </c:ext>
          </c:extLst>
        </c:ser>
        <c:ser>
          <c:idx val="1"/>
          <c:order val="1"/>
          <c:tx>
            <c:strRef>
              <c:f>Sheet1!$E$158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ED7D31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Aptos" panose="020B00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GH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6375-4746-9EE4-C44DD435691D}"/>
                </c:ext>
              </c:extLst>
            </c:dLbl>
            <c:dLbl>
              <c:idx val="1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Aptos" panose="020B00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GH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6375-4746-9EE4-C44DD435691D}"/>
                </c:ext>
              </c:extLst>
            </c:dLbl>
            <c:dLbl>
              <c:idx val="2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Aptos" panose="020B00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GH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6375-4746-9EE4-C44DD435691D}"/>
                </c:ext>
              </c:extLst>
            </c:dLbl>
            <c:dLbl>
              <c:idx val="3"/>
              <c:layout>
                <c:manualLayout>
                  <c:x val="0"/>
                  <c:y val="-2.697619601043605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375-4746-9EE4-C44DD435691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G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Sheet1!$C$159:$C$162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Sheet1!$E$159:$E$162</c:f>
              <c:numCache>
                <c:formatCode>General</c:formatCode>
                <c:ptCount val="4"/>
                <c:pt idx="0">
                  <c:v>1409</c:v>
                </c:pt>
                <c:pt idx="1">
                  <c:v>348</c:v>
                </c:pt>
                <c:pt idx="2">
                  <c:v>220</c:v>
                </c:pt>
                <c:pt idx="3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6375-4746-9EE4-C44DD43569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1"/>
        <c:overlap val="100"/>
        <c:axId val="1306537039"/>
        <c:axId val="1306526959"/>
      </c:barChart>
      <c:lineChart>
        <c:grouping val="standard"/>
        <c:varyColors val="0"/>
        <c:ser>
          <c:idx val="2"/>
          <c:order val="2"/>
          <c:tx>
            <c:strRef>
              <c:f>Sheet1!$F$158</c:f>
              <c:strCache>
                <c:ptCount val="1"/>
                <c:pt idx="0">
                  <c:v>Churn Rate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2.1774831627590176E-2"/>
                  <c:y val="-2.54501747535578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375-4746-9EE4-C44DD435691D}"/>
                </c:ext>
              </c:extLst>
            </c:dLbl>
            <c:dLbl>
              <c:idx val="1"/>
              <c:layout>
                <c:manualLayout>
                  <c:x val="2.2222222222222171E-2"/>
                  <c:y val="-1.6975112544026657E-1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375-4746-9EE4-C44DD435691D}"/>
                </c:ext>
              </c:extLst>
            </c:dLbl>
            <c:dLbl>
              <c:idx val="2"/>
              <c:layout>
                <c:manualLayout>
                  <c:x val="-2.1066368381804708E-2"/>
                  <c:y val="6.47889939547831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375-4746-9EE4-C44DD435691D}"/>
                </c:ext>
              </c:extLst>
            </c:dLbl>
            <c:dLbl>
              <c:idx val="3"/>
              <c:layout>
                <c:manualLayout>
                  <c:x val="-2.9306450997316609E-2"/>
                  <c:y val="6.248706568779589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375-4746-9EE4-C44DD435691D}"/>
                </c:ext>
              </c:extLst>
            </c:dLbl>
            <c:numFmt formatCode="0.0%" sourceLinked="0"/>
            <c:spPr>
              <a:solidFill>
                <a:srgbClr val="FCF2E7"/>
              </a:solidFill>
              <a:ln>
                <a:solidFill>
                  <a:srgbClr val="ED7D31">
                    <a:lumMod val="60000"/>
                    <a:lumOff val="40000"/>
                  </a:srgb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G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numRef>
              <c:f>Sheet1!$C$159:$C$162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Sheet1!$F$159:$F$162</c:f>
              <c:numCache>
                <c:formatCode>General</c:formatCode>
                <c:ptCount val="4"/>
                <c:pt idx="0">
                  <c:v>0.277144</c:v>
                </c:pt>
                <c:pt idx="1">
                  <c:v>7.5816999999999996E-2</c:v>
                </c:pt>
                <c:pt idx="2">
                  <c:v>0.82706800000000003</c:v>
                </c:pt>
                <c:pt idx="3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6375-4746-9EE4-C44DD43569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3879967"/>
        <c:axId val="563879487"/>
      </c:lineChart>
      <c:catAx>
        <c:axId val="130653703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r>
                  <a:rPr lang="en-US" sz="1100" b="1" dirty="0">
                    <a:latin typeface="Aptos" panose="020B0004020202020204" pitchFamily="34" charset="0"/>
                  </a:rPr>
                  <a:t>Number of</a:t>
                </a:r>
                <a:r>
                  <a:rPr lang="en-US" sz="1100" b="1" baseline="0" dirty="0">
                    <a:latin typeface="Aptos" panose="020B0004020202020204" pitchFamily="34" charset="0"/>
                  </a:rPr>
                  <a:t> Product</a:t>
                </a:r>
                <a:r>
                  <a:rPr lang="en-US" sz="1100" b="1" dirty="0">
                    <a:latin typeface="Aptos" panose="020B0004020202020204" pitchFamily="34" charset="0"/>
                  </a:rPr>
                  <a:t>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ptos" panose="020B0004020202020204" pitchFamily="34" charset="0"/>
                  <a:ea typeface="+mn-ea"/>
                  <a:cs typeface="+mn-cs"/>
                </a:defRPr>
              </a:pPr>
              <a:endParaRPr lang="en-GH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GH"/>
          </a:p>
        </c:txPr>
        <c:crossAx val="1306526959"/>
        <c:crosses val="autoZero"/>
        <c:auto val="1"/>
        <c:lblAlgn val="ctr"/>
        <c:lblOffset val="100"/>
        <c:noMultiLvlLbl val="0"/>
      </c:catAx>
      <c:valAx>
        <c:axId val="1306526959"/>
        <c:scaling>
          <c:orientation val="minMax"/>
          <c:max val="600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GH"/>
          </a:p>
        </c:txPr>
        <c:crossAx val="1306537039"/>
        <c:crosses val="autoZero"/>
        <c:crossBetween val="between"/>
      </c:valAx>
      <c:valAx>
        <c:axId val="563879487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GH"/>
          </a:p>
        </c:txPr>
        <c:crossAx val="563879967"/>
        <c:crosses val="max"/>
        <c:crossBetween val="between"/>
      </c:valAx>
      <c:catAx>
        <c:axId val="56387996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6387948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5434935412709575"/>
          <c:y val="0.33648155402112867"/>
          <c:w val="0.37203853875729481"/>
          <c:h val="5.055351993234054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GH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GH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High-Value</a:t>
            </a:r>
            <a:r>
              <a:rPr lang="en-US" sz="1600" b="1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Customers Pose a Greater Churn Risk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l">
              <a:defRPr/>
            </a:pPr>
            <a:endParaRPr lang="en-US" sz="500" b="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l">
              <a:defRPr/>
            </a:pPr>
            <a:r>
              <a:rPr lang="en-US" sz="1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Average</a:t>
            </a:r>
            <a:r>
              <a:rPr lang="en-US" sz="1300" b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Balance Comparison</a:t>
            </a:r>
          </a:p>
        </c:rich>
      </c:tx>
      <c:layout>
        <c:manualLayout>
          <c:xMode val="edge"/>
          <c:yMode val="edge"/>
          <c:x val="0.16230219927329195"/>
          <c:y val="4.470669591311177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737268612063427"/>
          <c:y val="0.26792024519091212"/>
          <c:w val="0.64159381856186959"/>
          <c:h val="0.7010233991760428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Sheet1!$C$23</c:f>
              <c:strCache>
                <c:ptCount val="1"/>
                <c:pt idx="0">
                  <c:v>Average Customer Balance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75A-4CB0-BAC2-7DBD14088B07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75A-4CB0-BAC2-7DBD14088B0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000" b="1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ptos" panose="020B0004020202020204" pitchFamily="34" charset="0"/>
                        <a:ea typeface="+mn-ea"/>
                        <a:cs typeface="Arial" panose="020B0604020202020204" pitchFamily="34" charset="0"/>
                      </a:defRPr>
                    </a:pPr>
                    <a:fld id="{06E3DFD1-774E-4437-AF46-A43726B4594E}" type="VALUE">
                      <a:rPr lang="en-US" sz="20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rPr>
                      <a:pPr>
                        <a:defRPr sz="2000" b="1">
                          <a:latin typeface="Aptos" panose="020B0004020202020204" pitchFamily="34" charset="0"/>
                          <a:cs typeface="Arial" panose="020B0604020202020204" pitchFamily="34" charset="0"/>
                        </a:defRPr>
                      </a:pPr>
                      <a:t>[VALUE]</a:t>
                    </a:fld>
                    <a:endParaRPr lang="en-GH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ptos" panose="020B00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GH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395838749500631"/>
                      <c:h val="0.15068971390425503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75A-4CB0-BAC2-7DBD14088B0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ptos" panose="020B00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GH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927941180475527"/>
                      <c:h val="0.1506897139042550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275A-4CB0-BAC2-7DBD14088B0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G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Sheet1!$B$24:$B$25</c:f>
              <c:strCache>
                <c:ptCount val="2"/>
                <c:pt idx="0">
                  <c:v>Retained</c:v>
                </c:pt>
                <c:pt idx="1">
                  <c:v>Churned</c:v>
                </c:pt>
              </c:strCache>
            </c:strRef>
          </c:cat>
          <c:val>
            <c:numRef>
              <c:f>Sheet1!$C$24:$C$25</c:f>
              <c:numCache>
                <c:formatCode>[$$-45C]#,##0</c:formatCode>
                <c:ptCount val="2"/>
                <c:pt idx="0">
                  <c:v>72745</c:v>
                </c:pt>
                <c:pt idx="1">
                  <c:v>91109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75A-4CB0-BAC2-7DBD14088B0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563878047"/>
        <c:axId val="2066407183"/>
      </c:barChart>
      <c:catAx>
        <c:axId val="56387804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9525" cap="flat" cmpd="sng" algn="ctr">
            <a:noFill/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+mn-ea"/>
                <a:cs typeface="Arial" panose="020B0604020202020204" pitchFamily="34" charset="0"/>
              </a:defRPr>
            </a:pPr>
            <a:endParaRPr lang="en-GH"/>
          </a:p>
        </c:txPr>
        <c:crossAx val="2066407183"/>
        <c:crosses val="autoZero"/>
        <c:auto val="1"/>
        <c:lblAlgn val="ctr"/>
        <c:lblOffset val="100"/>
        <c:noMultiLvlLbl val="0"/>
      </c:catAx>
      <c:valAx>
        <c:axId val="2066407183"/>
        <c:scaling>
          <c:orientation val="minMax"/>
        </c:scaling>
        <c:delete val="1"/>
        <c:axPos val="b"/>
        <c:numFmt formatCode="[$$-45C]#,##0" sourceLinked="1"/>
        <c:majorTickMark val="none"/>
        <c:minorTickMark val="none"/>
        <c:tickLblPos val="nextTo"/>
        <c:crossAx val="5638780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GH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12% of Total Deposit Lost Due to Churn</a:t>
            </a:r>
          </a:p>
          <a:p>
            <a:pPr algn="l">
              <a:defRPr/>
            </a:pPr>
            <a:endParaRPr lang="en-US" sz="500" b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defRPr/>
            </a:pPr>
            <a:r>
              <a: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Balance</a:t>
            </a:r>
            <a:r>
              <a:rPr lang="en-US" sz="1200" b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Loss Attrition</a:t>
            </a:r>
            <a:endParaRPr lang="en-US" sz="1200" b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layout>
        <c:manualLayout>
          <c:xMode val="edge"/>
          <c:yMode val="edge"/>
          <c:x val="0.12438369029789469"/>
          <c:y val="4.629617711518194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H"/>
        </a:p>
      </c:txPr>
    </c:title>
    <c:autoTitleDeleted val="0"/>
    <c:plotArea>
      <c:layout>
        <c:manualLayout>
          <c:layoutTarget val="inner"/>
          <c:xMode val="edge"/>
          <c:yMode val="edge"/>
          <c:x val="0.10603638123046988"/>
          <c:y val="0.28565523924210862"/>
          <c:w val="0.76056121173624947"/>
          <c:h val="0.714344760757891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Sheet1!$D$62</c:f>
              <c:strCache>
                <c:ptCount val="1"/>
                <c:pt idx="0">
                  <c:v>Total Balance ($)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ED7D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9C7-4195-A87C-CE089C85A7F7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9C7-4195-A87C-CE089C85A7F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E3A96C31-3287-468C-9BF9-73653B8A555B}" type="VALUE">
                      <a:rPr lang="en-US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rPr>
                      <a:pPr/>
                      <a:t>[VALUE]</a:t>
                    </a:fld>
                    <a:endParaRPr lang="en-GH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D9C7-4195-A87C-CE089C85A7F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250" b="1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pPr>
                    <a:fld id="{7559ADF3-E26C-40C7-9F30-5D2E72B9DAFC}" type="VALUE">
                      <a:rPr lang="en-US" sz="125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pPr>
                        <a:defRPr sz="1250" b="1"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pPr>
                      <a:t>[VALUE]</a:t>
                    </a:fld>
                    <a:endParaRPr lang="en-GH"/>
                  </a:p>
                </c:rich>
              </c:tx>
              <c:numFmt formatCode="\$#,##0.0,,&quot;M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25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GH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6104899442620324"/>
                      <c:h val="0.10133622493459835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D9C7-4195-A87C-CE089C85A7F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B9AFB5D-0326-410B-A7D1-E550099990AD}" type="VALUE">
                      <a:rPr lang="en-US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rPr>
                      <a:pPr/>
                      <a:t>[VALUE]</a:t>
                    </a:fld>
                    <a:endParaRPr lang="en-GH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D9C7-4195-A87C-CE089C85A7F7}"/>
                </c:ext>
              </c:extLst>
            </c:dLbl>
            <c:numFmt formatCode="\$#,##0.0,,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G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Sheet1!$C$63:$C$65</c:f>
              <c:strCache>
                <c:ptCount val="3"/>
                <c:pt idx="0">
                  <c:v>Starting Balance</c:v>
                </c:pt>
                <c:pt idx="1">
                  <c:v>Churn Loss</c:v>
                </c:pt>
                <c:pt idx="2">
                  <c:v>Current Balance</c:v>
                </c:pt>
              </c:strCache>
            </c:strRef>
          </c:cat>
          <c:val>
            <c:numRef>
              <c:f>Sheet1!$D$63:$D$65</c:f>
              <c:numCache>
                <c:formatCode>#,##0.00</c:formatCode>
                <c:ptCount val="3"/>
                <c:pt idx="0">
                  <c:v>764858892.88</c:v>
                </c:pt>
                <c:pt idx="1">
                  <c:v>-185588094.63</c:v>
                </c:pt>
                <c:pt idx="2">
                  <c:v>579270798.25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9C7-4195-A87C-CE089C85A7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overlap val="-27"/>
        <c:axId val="419831887"/>
        <c:axId val="419827567"/>
      </c:barChart>
      <c:catAx>
        <c:axId val="419831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+mn-ea"/>
                <a:cs typeface="Arial" panose="020B0604020202020204" pitchFamily="34" charset="0"/>
              </a:defRPr>
            </a:pPr>
            <a:endParaRPr lang="en-GH"/>
          </a:p>
        </c:txPr>
        <c:crossAx val="419827567"/>
        <c:crosses val="autoZero"/>
        <c:auto val="1"/>
        <c:lblAlgn val="ctr"/>
        <c:lblOffset val="100"/>
        <c:noMultiLvlLbl val="0"/>
      </c:catAx>
      <c:valAx>
        <c:axId val="419827567"/>
        <c:scaling>
          <c:orientation val="minMax"/>
        </c:scaling>
        <c:delete val="1"/>
        <c:axPos val="l"/>
        <c:numFmt formatCode="#,##0.00" sourceLinked="1"/>
        <c:majorTickMark val="none"/>
        <c:minorTickMark val="none"/>
        <c:tickLblPos val="nextTo"/>
        <c:crossAx val="4198318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GH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r>
              <a:rPr lang="en-US" sz="1400" b="1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Significant Loss in Potential </a:t>
            </a:r>
            <a:r>
              <a:rPr lang="en-US" sz="1400" b="1" i="0" u="none" strike="noStrike" kern="1200" spc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Earnings</a:t>
            </a:r>
            <a:endParaRPr lang="en-US" sz="1400" b="1" baseline="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  <a:p>
            <a:pPr algn="l">
              <a:defRPr>
                <a:latin typeface="Aptos" panose="020B0004020202020204" pitchFamily="34" charset="0"/>
              </a:defRPr>
            </a:pPr>
            <a:endParaRPr lang="en-US" sz="500" b="0" baseline="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  <a:p>
            <a:pPr algn="l">
              <a:defRPr>
                <a:latin typeface="Aptos" panose="020B0004020202020204" pitchFamily="34" charset="0"/>
              </a:defRPr>
            </a:pPr>
            <a:r>
              <a:rPr lang="en-US" sz="1200" b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Churn Impact on Estimated Salary</a:t>
            </a:r>
            <a:endParaRPr lang="en-US" sz="1200" b="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c:rich>
      </c:tx>
      <c:layout>
        <c:manualLayout>
          <c:xMode val="edge"/>
          <c:yMode val="edge"/>
          <c:x val="0.11171365930558887"/>
          <c:y val="4.244067387955421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288938163961239"/>
          <c:y val="0.29192133781347351"/>
          <c:w val="0.76042107924869573"/>
          <c:h val="0.57100271962549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Sheet1!$D$80</c:f>
              <c:strCache>
                <c:ptCount val="1"/>
                <c:pt idx="0">
                  <c:v>Total Salary ($)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692-4258-B03A-AA936BDE357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692-4258-B03A-AA936BDE3576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600" b="1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pPr>
                    <a:fld id="{7D4E2B68-7B7C-4527-9408-BF36A701E53A}" type="VALUE">
                      <a:rPr lang="en-US" sz="1250"/>
                      <a:pPr>
                        <a:defRPr sz="1600" b="1"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pPr>
                      <a:t>[VALUE]</a:t>
                    </a:fld>
                    <a:endParaRPr lang="en-GH"/>
                  </a:p>
                </c:rich>
              </c:tx>
              <c:numFmt formatCode="\$#,##0.0,,&quot;M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GH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235144927536227"/>
                      <c:h val="0.1004758929840650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692-4258-B03A-AA936BDE3576}"/>
                </c:ext>
              </c:extLst>
            </c:dLbl>
            <c:dLbl>
              <c:idx val="1"/>
              <c:numFmt formatCode="\$#,##0.0,,&quot;M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GH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480152979066023"/>
                      <c:h val="8.81331223331627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A692-4258-B03A-AA936BDE3576}"/>
                </c:ext>
              </c:extLst>
            </c:dLbl>
            <c:numFmt formatCode="\$#,##0.0,,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G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Sheet1!$C$81:$C$82</c:f>
              <c:strCache>
                <c:ptCount val="2"/>
                <c:pt idx="0">
                  <c:v>Churned Salary</c:v>
                </c:pt>
                <c:pt idx="1">
                  <c:v>Retained Salary</c:v>
                </c:pt>
              </c:strCache>
            </c:strRef>
          </c:cat>
          <c:val>
            <c:numRef>
              <c:f>Sheet1!$D$81:$D$82</c:f>
              <c:numCache>
                <c:formatCode>#,##0.00</c:formatCode>
                <c:ptCount val="2"/>
                <c:pt idx="0">
                  <c:v>206685585.13</c:v>
                </c:pt>
                <c:pt idx="1">
                  <c:v>794216813.67999995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692-4258-B03A-AA936BDE35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1"/>
        <c:overlap val="-27"/>
        <c:axId val="603202143"/>
        <c:axId val="603202623"/>
      </c:barChart>
      <c:catAx>
        <c:axId val="603202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Arial" panose="020B0604020202020204" pitchFamily="34" charset="0"/>
              </a:defRPr>
            </a:pPr>
            <a:endParaRPr lang="en-GH"/>
          </a:p>
        </c:txPr>
        <c:crossAx val="603202623"/>
        <c:crosses val="autoZero"/>
        <c:auto val="1"/>
        <c:lblAlgn val="ctr"/>
        <c:lblOffset val="100"/>
        <c:noMultiLvlLbl val="0"/>
      </c:catAx>
      <c:valAx>
        <c:axId val="603202623"/>
        <c:scaling>
          <c:orientation val="minMax"/>
        </c:scaling>
        <c:delete val="1"/>
        <c:axPos val="l"/>
        <c:numFmt formatCode="#,##0.00" sourceLinked="1"/>
        <c:majorTickMark val="none"/>
        <c:minorTickMark val="none"/>
        <c:tickLblPos val="nextTo"/>
        <c:crossAx val="6032021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GH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sv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sv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0.43191</cdr:x>
      <cdr:y>0.32714</cdr:y>
    </cdr:from>
    <cdr:to>
      <cdr:x>0.64258</cdr:x>
      <cdr:y>0.32714</cdr:y>
    </cdr:to>
    <cdr:cxnSp macro="">
      <cdr:nvCxnSpPr>
        <cdr:cNvPr id="4" name="Straight Connector 3">
          <a:extLst xmlns:a="http://schemas.openxmlformats.org/drawingml/2006/main">
            <a:ext uri="{FF2B5EF4-FFF2-40B4-BE49-F238E27FC236}">
              <a16:creationId xmlns:a16="http://schemas.microsoft.com/office/drawing/2014/main" id="{06133D70-24BD-DA7D-02B3-6B92E3E2DF20}"/>
            </a:ext>
          </a:extLst>
        </cdr:cNvPr>
        <cdr:cNvCxnSpPr/>
      </cdr:nvCxnSpPr>
      <cdr:spPr>
        <a:xfrm xmlns:a="http://schemas.openxmlformats.org/drawingml/2006/main">
          <a:off x="2285542" y="1587582"/>
          <a:ext cx="1114845" cy="0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rgbClr val="FF0000"/>
          </a:solidFill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0.35246</cdr:x>
      <cdr:y>0.30971</cdr:y>
    </cdr:from>
    <cdr:to>
      <cdr:x>0.64821</cdr:x>
      <cdr:y>0.7038</cdr:y>
    </cdr:to>
    <cdr:pic>
      <cdr:nvPicPr>
        <cdr:cNvPr id="4" name="Graphic 3" descr="Woman with solid fill">
          <a:extLst xmlns:a="http://schemas.openxmlformats.org/drawingml/2006/main">
            <a:ext uri="{FF2B5EF4-FFF2-40B4-BE49-F238E27FC236}">
              <a16:creationId xmlns:a16="http://schemas.microsoft.com/office/drawing/2014/main" id="{576FDC03-8C7F-8DB7-FB4F-DD3A890082B2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>
          <a:extLst>
            <a:ext uri="{96DAC541-7B7A-43D3-8B79-37D633B846F1}">
              <asvg:svgBlip xmlns:asvg="http://schemas.microsoft.com/office/drawing/2016/SVG/main" r:embed="rId1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636423" y="447447"/>
          <a:ext cx="534009" cy="569364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0.31354</cdr:x>
      <cdr:y>0.30549</cdr:y>
    </cdr:from>
    <cdr:to>
      <cdr:x>0.68409</cdr:x>
      <cdr:y>0.70042</cdr:y>
    </cdr:to>
    <cdr:pic>
      <cdr:nvPicPr>
        <cdr:cNvPr id="4" name="Graphic 3" descr="Man with solid fill">
          <a:extLst xmlns:a="http://schemas.openxmlformats.org/drawingml/2006/main">
            <a:ext uri="{FF2B5EF4-FFF2-40B4-BE49-F238E27FC236}">
              <a16:creationId xmlns:a16="http://schemas.microsoft.com/office/drawing/2014/main" id="{F2FD1622-3D90-87CF-F502-16F01875C33C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>
          <a:extLst>
            <a:ext uri="{96DAC541-7B7A-43D3-8B79-37D633B846F1}">
              <asvg:svgBlip xmlns:asvg="http://schemas.microsoft.com/office/drawing/2016/SVG/main" r:embed="rId1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482803" y="441351"/>
          <a:ext cx="570586" cy="570586"/>
        </a:xfrm>
        <a:prstGeom xmlns:a="http://schemas.openxmlformats.org/drawingml/2006/main" prst="rect">
          <a:avLst/>
        </a:prstGeom>
      </cdr:spPr>
    </cdr:pic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961D4-E3F9-CF58-4CA9-8464ADA6B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F1B83-11D7-BB5D-243D-31CF4B14B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52EEC-BE37-B2C8-890E-64831E98A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66AF6-B87B-46BB-BC0C-735D15D9B64A}" type="datetimeFigureOut">
              <a:rPr lang="en-GH" smtClean="0"/>
              <a:t>30/04/2026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D7D0E-229F-4CBB-CEA0-CD4CC10D6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8C6E8-C961-D847-61B0-0B66861C5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D88A-8C9E-4527-A603-A887622847D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8921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B0AEF-60D7-5601-8548-2E79806F3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E6887-98DC-DEF8-0532-EE70320AE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6E013-142C-5B48-DB8E-474E3AF4B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66AF6-B87B-46BB-BC0C-735D15D9B64A}" type="datetimeFigureOut">
              <a:rPr lang="en-GH" smtClean="0"/>
              <a:t>30/04/2026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96BA1-1317-C62D-4839-3D43AAD1C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D31A6-EA3E-D554-F1A2-A5D5886E3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D88A-8C9E-4527-A603-A887622847D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464926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14BA8-B686-3FB0-7C80-530FE3997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2742F-7C4D-68E9-DFDB-E6A85A3DB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E842-00AB-1DC0-C2DE-C056617B4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66AF6-B87B-46BB-BC0C-735D15D9B64A}" type="datetimeFigureOut">
              <a:rPr lang="en-GH" smtClean="0"/>
              <a:t>30/04/2026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6897F-5EC8-F8CA-1748-5B2271289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B534B-38B3-A928-39A0-6D6BA712D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D88A-8C9E-4527-A603-A887622847D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548940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CB3FE-76FD-DF14-B149-131CDB9A2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8E7C2-7752-5543-5813-17160614BF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9EC82-CF4A-A51E-F3A8-B870D3AF4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1FFE2-96C6-6AB9-28D7-29F34ACAD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66AF6-B87B-46BB-BC0C-735D15D9B64A}" type="datetimeFigureOut">
              <a:rPr lang="en-GH" smtClean="0"/>
              <a:t>30/04/2026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916DE-9E58-5705-96D5-42029AE84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F03BD8-61BF-876C-403F-47D6257E5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D88A-8C9E-4527-A603-A887622847D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27086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255BD-AEF8-E1B7-ACC9-53B85931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97556-FF0D-1BD9-4DD3-25390E31C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A35B96-4DC3-6B95-CEC1-7C7B10C95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A62CAA-A296-CB07-1345-0BEC158BBE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5B0306-30AC-6ABA-1FEA-51533C6F02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9C75D6-7599-09F3-E236-3145D4780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66AF6-B87B-46BB-BC0C-735D15D9B64A}" type="datetimeFigureOut">
              <a:rPr lang="en-GH" smtClean="0"/>
              <a:t>30/04/2026</a:t>
            </a:fld>
            <a:endParaRPr lang="en-G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B19B1-B07B-19BB-5696-69D54BAC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420F72-2351-57B9-3D46-2F0CD573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D88A-8C9E-4527-A603-A887622847D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913566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E49FE-97F6-E8A2-85A5-E7660FAEA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38B21F-72E0-79FE-D77B-CC7BFE442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66AF6-B87B-46BB-BC0C-735D15D9B64A}" type="datetimeFigureOut">
              <a:rPr lang="en-GH" smtClean="0"/>
              <a:t>30/04/2026</a:t>
            </a:fld>
            <a:endParaRPr lang="en-G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5B4BBA-B011-BBFA-AC2B-43C1E638C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BB874-DBFE-4363-D251-86B109553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D88A-8C9E-4527-A603-A887622847D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958912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7CF771-0271-F062-5766-D3267C064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66AF6-B87B-46BB-BC0C-735D15D9B64A}" type="datetimeFigureOut">
              <a:rPr lang="en-GH" smtClean="0"/>
              <a:t>30/04/2026</a:t>
            </a:fld>
            <a:endParaRPr lang="en-G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32D632-B471-3E30-19C0-97C63C17C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DD08B-DB11-0BFE-6DDB-57C091C79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D88A-8C9E-4527-A603-A887622847D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083745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85D4-755D-0640-B078-65892DEA9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2EE90-7CEC-0379-4E8B-C8FB6F9F7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E4E45-1603-EFEA-AE11-C20571E46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EAB340-F229-1A1A-E193-5A0E4EA85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66AF6-B87B-46BB-BC0C-735D15D9B64A}" type="datetimeFigureOut">
              <a:rPr lang="en-GH" smtClean="0"/>
              <a:t>30/04/2026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6E3F3-63C3-8B4D-59E2-478EA4E95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4FAF7-4942-ECAE-B1EF-414880CF0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D88A-8C9E-4527-A603-A887622847D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222760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4DB03-DF17-01DB-F8C6-2272E552D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FF8E64-80D1-3E9F-9106-CBE7B8A490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5076D8-E286-0DE0-4276-08F743261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12B19-C0F7-40EB-7B27-F112599CC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66AF6-B87B-46BB-BC0C-735D15D9B64A}" type="datetimeFigureOut">
              <a:rPr lang="en-GH" smtClean="0"/>
              <a:t>30/04/2026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925E7-7D19-FAAD-F764-41FD6A43D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BD7DA-3B71-B7EB-9073-691BE6F7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D88A-8C9E-4527-A603-A887622847D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428490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B611F-0E89-C7E6-73C3-6EBD69B9E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CD71D-F495-D1BC-5C80-452F187E5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11C7F-3178-CD5B-D47E-7D30162C8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66AF6-B87B-46BB-BC0C-735D15D9B64A}" type="datetimeFigureOut">
              <a:rPr lang="en-GH" smtClean="0"/>
              <a:t>30/04/2026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79B01-F9FA-F35F-6908-F435C6DE4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36BFE-AAA5-770D-A9EB-F2722323A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D88A-8C9E-4527-A603-A887622847D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757679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BDAFC2-13E7-BAE9-D670-B0E6816E92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AE4CD5-DBB4-F8DD-325E-146CBAAA8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36C4E-098E-45C5-2EBB-F21131D3B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66AF6-B87B-46BB-BC0C-735D15D9B64A}" type="datetimeFigureOut">
              <a:rPr lang="en-GH" smtClean="0"/>
              <a:t>30/04/2026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1AB1E-B079-1EAE-C36D-C5019BF99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E25EE-B50B-9EDF-8013-1BF48893D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D88A-8C9E-4527-A603-A887622847D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934788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D4DD99-67FC-5EB4-D58F-9AC4C7CD6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586AF-F41B-F509-DD5C-08AE31744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A2D71-C5DE-4A1F-437B-95D403982A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66AF6-B87B-46BB-BC0C-735D15D9B64A}" type="datetimeFigureOut">
              <a:rPr lang="en-GH" smtClean="0"/>
              <a:t>30/04/2026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A5B0B-7ED9-067B-7826-93CF59F7D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080A2-A2C2-8BAF-9369-7761F08F7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42D88A-8C9E-4527-A603-A887622847D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896509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5.png"/><Relationship Id="rId7" Type="http://schemas.openxmlformats.org/officeDocument/2006/relationships/image" Target="../media/image18.sv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31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chart" Target="../charts/chart7.xml"/><Relationship Id="rId4" Type="http://schemas.openxmlformats.org/officeDocument/2006/relationships/image" Target="../media/image2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D5113FAD-49D3-4C59-3D85-B23026AC4D4C}"/>
              </a:ext>
            </a:extLst>
          </p:cNvPr>
          <p:cNvSpPr txBox="1">
            <a:spLocks/>
          </p:cNvSpPr>
          <p:nvPr/>
        </p:nvSpPr>
        <p:spPr>
          <a:xfrm>
            <a:off x="4839629" y="5116686"/>
            <a:ext cx="7363523" cy="1750741"/>
          </a:xfrm>
          <a:prstGeom prst="rect">
            <a:avLst/>
          </a:prstGeom>
          <a:solidFill>
            <a:srgbClr val="F38C3E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H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B20DFB-8A22-EF7E-5EA3-251AB1B2DB3A}"/>
              </a:ext>
            </a:extLst>
          </p:cNvPr>
          <p:cNvSpPr/>
          <p:nvPr/>
        </p:nvSpPr>
        <p:spPr>
          <a:xfrm>
            <a:off x="-1" y="-1"/>
            <a:ext cx="4839629" cy="686742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2B86D16-858F-9867-AA63-78C30B090153}"/>
              </a:ext>
            </a:extLst>
          </p:cNvPr>
          <p:cNvGrpSpPr/>
          <p:nvPr/>
        </p:nvGrpSpPr>
        <p:grpSpPr>
          <a:xfrm>
            <a:off x="5495123" y="5701094"/>
            <a:ext cx="640799" cy="625102"/>
            <a:chOff x="5066628" y="5667898"/>
            <a:chExt cx="640799" cy="625102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F2328B8-8D10-1AED-AD27-5C123BF0F54D}"/>
                </a:ext>
              </a:extLst>
            </p:cNvPr>
            <p:cNvSpPr/>
            <p:nvPr/>
          </p:nvSpPr>
          <p:spPr>
            <a:xfrm>
              <a:off x="5066628" y="5667898"/>
              <a:ext cx="640799" cy="62510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 dirty="0"/>
            </a:p>
          </p:txBody>
        </p:sp>
        <p:pic>
          <p:nvPicPr>
            <p:cNvPr id="12" name="Graphic 11" descr="Downward trend graph with solid fill">
              <a:extLst>
                <a:ext uri="{FF2B5EF4-FFF2-40B4-BE49-F238E27FC236}">
                  <a16:creationId xmlns:a16="http://schemas.microsoft.com/office/drawing/2014/main" id="{A77CC78C-8655-F06B-39DF-9CA54CCBCB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188257" y="5781679"/>
              <a:ext cx="397539" cy="397539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9AAC600-AE74-7A15-944C-4965687367B2}"/>
              </a:ext>
            </a:extLst>
          </p:cNvPr>
          <p:cNvGrpSpPr/>
          <p:nvPr/>
        </p:nvGrpSpPr>
        <p:grpSpPr>
          <a:xfrm>
            <a:off x="6574380" y="5701094"/>
            <a:ext cx="640799" cy="625102"/>
            <a:chOff x="6093392" y="5369334"/>
            <a:chExt cx="640799" cy="625102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8A63C984-AB2F-CD9F-A009-FD4944D5F83A}"/>
                </a:ext>
              </a:extLst>
            </p:cNvPr>
            <p:cNvSpPr/>
            <p:nvPr/>
          </p:nvSpPr>
          <p:spPr>
            <a:xfrm>
              <a:off x="6093392" y="5369334"/>
              <a:ext cx="640799" cy="62510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 dirty="0"/>
            </a:p>
          </p:txBody>
        </p:sp>
        <p:pic>
          <p:nvPicPr>
            <p:cNvPr id="40" name="Graphic 39" descr="Bank with solid fill">
              <a:extLst>
                <a:ext uri="{FF2B5EF4-FFF2-40B4-BE49-F238E27FC236}">
                  <a16:creationId xmlns:a16="http://schemas.microsoft.com/office/drawing/2014/main" id="{082CDDE9-1947-D775-F5D3-DD15452B24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13446" y="5483885"/>
              <a:ext cx="396000" cy="396000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9615A64-28DF-4402-73A4-E04697BBB2FE}"/>
              </a:ext>
            </a:extLst>
          </p:cNvPr>
          <p:cNvGrpSpPr/>
          <p:nvPr/>
        </p:nvGrpSpPr>
        <p:grpSpPr>
          <a:xfrm>
            <a:off x="7653637" y="5692699"/>
            <a:ext cx="640799" cy="625102"/>
            <a:chOff x="7413754" y="5567334"/>
            <a:chExt cx="640799" cy="625102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03E6126-7045-CAF0-2344-A2416C3D451B}"/>
                </a:ext>
              </a:extLst>
            </p:cNvPr>
            <p:cNvSpPr/>
            <p:nvPr/>
          </p:nvSpPr>
          <p:spPr>
            <a:xfrm>
              <a:off x="7413754" y="5567334"/>
              <a:ext cx="640799" cy="62510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 dirty="0"/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3FFCD22A-5555-ED75-FBD5-DB42576909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36153" y="5690280"/>
              <a:ext cx="396000" cy="396000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1E78E23-F420-BD21-5A68-474F51B52BBB}"/>
              </a:ext>
            </a:extLst>
          </p:cNvPr>
          <p:cNvGrpSpPr/>
          <p:nvPr/>
        </p:nvGrpSpPr>
        <p:grpSpPr>
          <a:xfrm>
            <a:off x="8732894" y="5664683"/>
            <a:ext cx="640799" cy="625102"/>
            <a:chOff x="8688755" y="5664683"/>
            <a:chExt cx="640799" cy="625102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3EC8521-2BF2-1824-3CE2-0458F855B82B}"/>
                </a:ext>
              </a:extLst>
            </p:cNvPr>
            <p:cNvSpPr/>
            <p:nvPr/>
          </p:nvSpPr>
          <p:spPr>
            <a:xfrm>
              <a:off x="8688755" y="5664683"/>
              <a:ext cx="640799" cy="62510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 dirty="0"/>
            </a:p>
          </p:txBody>
        </p: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4D8BA72A-2AAF-6F0E-05D0-D2C99AB4AF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28722"/>
            <a:stretch>
              <a:fillRect/>
            </a:stretch>
          </p:blipFill>
          <p:spPr>
            <a:xfrm>
              <a:off x="8906166" y="5780003"/>
              <a:ext cx="282259" cy="396000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331D5C3-E1D0-2B8E-F795-BFB9B1F5425E}"/>
              </a:ext>
            </a:extLst>
          </p:cNvPr>
          <p:cNvGrpSpPr/>
          <p:nvPr/>
        </p:nvGrpSpPr>
        <p:grpSpPr>
          <a:xfrm>
            <a:off x="9812151" y="5664683"/>
            <a:ext cx="640799" cy="625102"/>
            <a:chOff x="9761738" y="5664683"/>
            <a:chExt cx="640799" cy="625102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0A1B9BD-6771-8FB5-94D3-81CC27F37DDF}"/>
                </a:ext>
              </a:extLst>
            </p:cNvPr>
            <p:cNvSpPr/>
            <p:nvPr/>
          </p:nvSpPr>
          <p:spPr>
            <a:xfrm>
              <a:off x="9761738" y="5664683"/>
              <a:ext cx="640799" cy="62510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 dirty="0"/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0DD7053E-BC94-A66F-6CA9-1AFE6BB6E4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28722"/>
            <a:stretch>
              <a:fillRect/>
            </a:stretch>
          </p:blipFill>
          <p:spPr>
            <a:xfrm>
              <a:off x="9969351" y="5786289"/>
              <a:ext cx="282259" cy="396000"/>
            </a:xfrm>
            <a:prstGeom prst="rect">
              <a:avLst/>
            </a:prstGeom>
          </p:spPr>
        </p:pic>
      </p:grpSp>
      <p:sp>
        <p:nvSpPr>
          <p:cNvPr id="56" name="Oval 55">
            <a:extLst>
              <a:ext uri="{FF2B5EF4-FFF2-40B4-BE49-F238E27FC236}">
                <a16:creationId xmlns:a16="http://schemas.microsoft.com/office/drawing/2014/main" id="{0B65AC19-14E8-3CC6-F446-4C113C9FC2A9}"/>
              </a:ext>
            </a:extLst>
          </p:cNvPr>
          <p:cNvSpPr/>
          <p:nvPr/>
        </p:nvSpPr>
        <p:spPr>
          <a:xfrm>
            <a:off x="10891406" y="5646235"/>
            <a:ext cx="640799" cy="6264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 dirty="0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FE592206-D363-64D8-17C6-1A25AF8F4F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13805" y="5796791"/>
            <a:ext cx="396000" cy="39600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3632D541-F705-6843-8098-6B206B024168}"/>
              </a:ext>
            </a:extLst>
          </p:cNvPr>
          <p:cNvSpPr/>
          <p:nvPr/>
        </p:nvSpPr>
        <p:spPr>
          <a:xfrm>
            <a:off x="4839628" y="-1"/>
            <a:ext cx="7352372" cy="5132879"/>
          </a:xfrm>
          <a:prstGeom prst="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90A8162-EBD5-F98A-7DDE-5630534DE49C}"/>
              </a:ext>
            </a:extLst>
          </p:cNvPr>
          <p:cNvGrpSpPr/>
          <p:nvPr/>
        </p:nvGrpSpPr>
        <p:grpSpPr>
          <a:xfrm>
            <a:off x="474205" y="2424556"/>
            <a:ext cx="3778783" cy="2162398"/>
            <a:chOff x="474205" y="2424556"/>
            <a:chExt cx="3778783" cy="2162398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E01DBB8-8511-B9E4-2698-90473D536B45}"/>
                </a:ext>
              </a:extLst>
            </p:cNvPr>
            <p:cNvSpPr txBox="1"/>
            <p:nvPr/>
          </p:nvSpPr>
          <p:spPr>
            <a:xfrm>
              <a:off x="474205" y="2424556"/>
              <a:ext cx="3778783" cy="7614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800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ptos" panose="020B0004020202020204" pitchFamily="34" charset="0"/>
                  <a:cs typeface="Arial" panose="020B0604020202020204" pitchFamily="34" charset="0"/>
                </a:rPr>
                <a:t>Customer</a:t>
              </a:r>
              <a:r>
                <a:rPr lang="en-US" sz="3800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  <a:cs typeface="Arial" panose="020B0604020202020204" pitchFamily="34" charset="0"/>
                </a:rPr>
                <a:t> Churn</a:t>
              </a:r>
              <a:endParaRPr lang="en-GH" sz="3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44EA412-146F-6F98-AEC4-5A718F18A123}"/>
                </a:ext>
              </a:extLst>
            </p:cNvPr>
            <p:cNvSpPr txBox="1"/>
            <p:nvPr/>
          </p:nvSpPr>
          <p:spPr>
            <a:xfrm>
              <a:off x="474205" y="3340898"/>
              <a:ext cx="3778783" cy="1246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Understanding Key Churn Drivers and the Financial Toll on the Bank</a:t>
              </a:r>
              <a:endParaRPr lang="en-GH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9AB156-6373-C882-5782-29BAD39338E0}"/>
              </a:ext>
            </a:extLst>
          </p:cNvPr>
          <p:cNvSpPr txBox="1"/>
          <p:nvPr/>
        </p:nvSpPr>
        <p:spPr>
          <a:xfrm>
            <a:off x="586637" y="6021594"/>
            <a:ext cx="3582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Justice Paintsil, Data Analyst</a:t>
            </a:r>
            <a:endParaRPr lang="en-GH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3" name="Graphic 62" descr="Bank with solid fill">
            <a:extLst>
              <a:ext uri="{FF2B5EF4-FFF2-40B4-BE49-F238E27FC236}">
                <a16:creationId xmlns:a16="http://schemas.microsoft.com/office/drawing/2014/main" id="{BA24C78A-5BFE-08EC-61C8-E21B5D7CD5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16889" y="467159"/>
            <a:ext cx="429896" cy="306070"/>
          </a:xfrm>
          <a:prstGeom prst="rect">
            <a:avLst/>
          </a:prstGeom>
        </p:spPr>
      </p:pic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7777E499-58CE-392C-586D-5CFB316A81EB}"/>
              </a:ext>
            </a:extLst>
          </p:cNvPr>
          <p:cNvSpPr/>
          <p:nvPr/>
        </p:nvSpPr>
        <p:spPr>
          <a:xfrm>
            <a:off x="11211805" y="467160"/>
            <a:ext cx="429895" cy="306070"/>
          </a:xfrm>
          <a:prstGeom prst="roundRect">
            <a:avLst>
              <a:gd name="adj" fmla="val 8973"/>
            </a:avLst>
          </a:prstGeom>
          <a:noFill/>
          <a:ln w="12700">
            <a:solidFill>
              <a:srgbClr val="FC99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35317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A38532-5D7B-9A3F-E3EF-46E51C6BBE49}"/>
              </a:ext>
            </a:extLst>
          </p:cNvPr>
          <p:cNvSpPr txBox="1"/>
          <p:nvPr/>
        </p:nvSpPr>
        <p:spPr>
          <a:xfrm>
            <a:off x="881352" y="493035"/>
            <a:ext cx="5425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Our Story at a Glance 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DD4474B-373B-6CA5-7695-B8B1505C1EEA}"/>
              </a:ext>
            </a:extLst>
          </p:cNvPr>
          <p:cNvGrpSpPr/>
          <p:nvPr/>
        </p:nvGrpSpPr>
        <p:grpSpPr>
          <a:xfrm>
            <a:off x="881353" y="1375218"/>
            <a:ext cx="5425131" cy="880692"/>
            <a:chOff x="4821761" y="1375218"/>
            <a:chExt cx="5425131" cy="880692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7A71BFD-079D-DA8B-8681-21DBC6BD5A85}"/>
                </a:ext>
              </a:extLst>
            </p:cNvPr>
            <p:cNvGrpSpPr/>
            <p:nvPr/>
          </p:nvGrpSpPr>
          <p:grpSpPr>
            <a:xfrm>
              <a:off x="4821761" y="1375218"/>
              <a:ext cx="5425131" cy="880692"/>
              <a:chOff x="4908570" y="2603815"/>
              <a:chExt cx="5425131" cy="1004188"/>
            </a:xfrm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E7F51B87-040C-3C64-39D5-9C8F247D5275}"/>
                  </a:ext>
                </a:extLst>
              </p:cNvPr>
              <p:cNvSpPr/>
              <p:nvPr/>
            </p:nvSpPr>
            <p:spPr>
              <a:xfrm>
                <a:off x="4979565" y="2603815"/>
                <a:ext cx="5354136" cy="1004188"/>
              </a:xfrm>
              <a:custGeom>
                <a:avLst/>
                <a:gdLst>
                  <a:gd name="csX0" fmla="*/ 49386 w 5354136"/>
                  <a:gd name="csY0" fmla="*/ 0 h 1004188"/>
                  <a:gd name="csX1" fmla="*/ 5304750 w 5354136"/>
                  <a:gd name="csY1" fmla="*/ 0 h 1004188"/>
                  <a:gd name="csX2" fmla="*/ 5354136 w 5354136"/>
                  <a:gd name="csY2" fmla="*/ 49386 h 1004188"/>
                  <a:gd name="csX3" fmla="*/ 5354136 w 5354136"/>
                  <a:gd name="csY3" fmla="*/ 954802 h 1004188"/>
                  <a:gd name="csX4" fmla="*/ 5304750 w 5354136"/>
                  <a:gd name="csY4" fmla="*/ 1004188 h 1004188"/>
                  <a:gd name="csX5" fmla="*/ 49386 w 5354136"/>
                  <a:gd name="csY5" fmla="*/ 1004188 h 1004188"/>
                  <a:gd name="csX6" fmla="*/ 0 w 5354136"/>
                  <a:gd name="csY6" fmla="*/ 954802 h 1004188"/>
                  <a:gd name="csX7" fmla="*/ 0 w 5354136"/>
                  <a:gd name="csY7" fmla="*/ 697550 h 1004188"/>
                  <a:gd name="csX8" fmla="*/ 66524 w 5354136"/>
                  <a:gd name="csY8" fmla="*/ 697550 h 1004188"/>
                  <a:gd name="csX9" fmla="*/ 241364 w 5354136"/>
                  <a:gd name="csY9" fmla="*/ 522710 h 1004188"/>
                  <a:gd name="csX10" fmla="*/ 241364 w 5354136"/>
                  <a:gd name="csY10" fmla="*/ 472280 h 1004188"/>
                  <a:gd name="csX11" fmla="*/ 66524 w 5354136"/>
                  <a:gd name="csY11" fmla="*/ 297440 h 1004188"/>
                  <a:gd name="csX12" fmla="*/ 0 w 5354136"/>
                  <a:gd name="csY12" fmla="*/ 297440 h 1004188"/>
                  <a:gd name="csX13" fmla="*/ 0 w 5354136"/>
                  <a:gd name="csY13" fmla="*/ 49386 h 1004188"/>
                  <a:gd name="csX14" fmla="*/ 49386 w 5354136"/>
                  <a:gd name="csY14" fmla="*/ 0 h 10041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5354136" h="1004188">
                    <a:moveTo>
                      <a:pt x="49386" y="0"/>
                    </a:moveTo>
                    <a:lnTo>
                      <a:pt x="5304750" y="0"/>
                    </a:lnTo>
                    <a:cubicBezTo>
                      <a:pt x="5332025" y="0"/>
                      <a:pt x="5354136" y="22111"/>
                      <a:pt x="5354136" y="49386"/>
                    </a:cubicBezTo>
                    <a:lnTo>
                      <a:pt x="5354136" y="954802"/>
                    </a:lnTo>
                    <a:cubicBezTo>
                      <a:pt x="5354136" y="982077"/>
                      <a:pt x="5332025" y="1004188"/>
                      <a:pt x="5304750" y="1004188"/>
                    </a:cubicBezTo>
                    <a:lnTo>
                      <a:pt x="49386" y="1004188"/>
                    </a:lnTo>
                    <a:cubicBezTo>
                      <a:pt x="22111" y="1004188"/>
                      <a:pt x="0" y="982077"/>
                      <a:pt x="0" y="954802"/>
                    </a:cubicBezTo>
                    <a:lnTo>
                      <a:pt x="0" y="697550"/>
                    </a:lnTo>
                    <a:lnTo>
                      <a:pt x="66524" y="697550"/>
                    </a:lnTo>
                    <a:cubicBezTo>
                      <a:pt x="163085" y="697550"/>
                      <a:pt x="241364" y="619271"/>
                      <a:pt x="241364" y="522710"/>
                    </a:cubicBezTo>
                    <a:lnTo>
                      <a:pt x="241364" y="472280"/>
                    </a:lnTo>
                    <a:cubicBezTo>
                      <a:pt x="241364" y="375719"/>
                      <a:pt x="163085" y="297440"/>
                      <a:pt x="66524" y="297440"/>
                    </a:cubicBezTo>
                    <a:lnTo>
                      <a:pt x="0" y="297440"/>
                    </a:lnTo>
                    <a:lnTo>
                      <a:pt x="0" y="49386"/>
                    </a:lnTo>
                    <a:cubicBezTo>
                      <a:pt x="0" y="22111"/>
                      <a:pt x="22111" y="0"/>
                      <a:pt x="49386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381000" dir="10800000" algn="r" rotWithShape="0">
                  <a:schemeClr val="accent6">
                    <a:lumMod val="60000"/>
                    <a:lumOff val="4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GH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8EFFA9A-804F-FBF5-19DD-5CB3E898A43C}"/>
                  </a:ext>
                </a:extLst>
              </p:cNvPr>
              <p:cNvSpPr txBox="1"/>
              <p:nvPr/>
            </p:nvSpPr>
            <p:spPr>
              <a:xfrm>
                <a:off x="4908570" y="2884356"/>
                <a:ext cx="3101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000" b="1" dirty="0">
                    <a:ln w="1270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</a:t>
                </a:r>
                <a:endParaRPr lang="en-GH" sz="2000" b="1" dirty="0">
                  <a:ln w="12700"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7E2590F5-85F5-B291-ADFC-C68C76A7B9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444639" y="1612487"/>
              <a:ext cx="370800" cy="370800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A34EE0C-F233-034E-2BEA-71063AAE2560}"/>
                </a:ext>
              </a:extLst>
            </p:cNvPr>
            <p:cNvSpPr txBox="1"/>
            <p:nvPr/>
          </p:nvSpPr>
          <p:spPr>
            <a:xfrm>
              <a:off x="5992411" y="1618530"/>
              <a:ext cx="2936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Churn Rate Overview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DB62A2B-406F-5E36-7679-16C82598B8A1}"/>
              </a:ext>
            </a:extLst>
          </p:cNvPr>
          <p:cNvGrpSpPr/>
          <p:nvPr/>
        </p:nvGrpSpPr>
        <p:grpSpPr>
          <a:xfrm>
            <a:off x="881353" y="2643726"/>
            <a:ext cx="5425131" cy="880692"/>
            <a:chOff x="4821761" y="2643726"/>
            <a:chExt cx="5425131" cy="88069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27A6FFF-F8FF-BDCE-69A5-00086EAC9E44}"/>
                </a:ext>
              </a:extLst>
            </p:cNvPr>
            <p:cNvGrpSpPr/>
            <p:nvPr/>
          </p:nvGrpSpPr>
          <p:grpSpPr>
            <a:xfrm>
              <a:off x="4821761" y="2643726"/>
              <a:ext cx="5425131" cy="880692"/>
              <a:chOff x="4908570" y="2603815"/>
              <a:chExt cx="5425131" cy="1004188"/>
            </a:xfrm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6732CAE-0A13-7E63-00B7-30816B765B78}"/>
                  </a:ext>
                </a:extLst>
              </p:cNvPr>
              <p:cNvSpPr/>
              <p:nvPr/>
            </p:nvSpPr>
            <p:spPr>
              <a:xfrm>
                <a:off x="4979565" y="2603815"/>
                <a:ext cx="5354136" cy="1004188"/>
              </a:xfrm>
              <a:custGeom>
                <a:avLst/>
                <a:gdLst>
                  <a:gd name="csX0" fmla="*/ 49386 w 5354136"/>
                  <a:gd name="csY0" fmla="*/ 0 h 1004188"/>
                  <a:gd name="csX1" fmla="*/ 5304750 w 5354136"/>
                  <a:gd name="csY1" fmla="*/ 0 h 1004188"/>
                  <a:gd name="csX2" fmla="*/ 5354136 w 5354136"/>
                  <a:gd name="csY2" fmla="*/ 49386 h 1004188"/>
                  <a:gd name="csX3" fmla="*/ 5354136 w 5354136"/>
                  <a:gd name="csY3" fmla="*/ 954802 h 1004188"/>
                  <a:gd name="csX4" fmla="*/ 5304750 w 5354136"/>
                  <a:gd name="csY4" fmla="*/ 1004188 h 1004188"/>
                  <a:gd name="csX5" fmla="*/ 49386 w 5354136"/>
                  <a:gd name="csY5" fmla="*/ 1004188 h 1004188"/>
                  <a:gd name="csX6" fmla="*/ 0 w 5354136"/>
                  <a:gd name="csY6" fmla="*/ 954802 h 1004188"/>
                  <a:gd name="csX7" fmla="*/ 0 w 5354136"/>
                  <a:gd name="csY7" fmla="*/ 697550 h 1004188"/>
                  <a:gd name="csX8" fmla="*/ 66524 w 5354136"/>
                  <a:gd name="csY8" fmla="*/ 697550 h 1004188"/>
                  <a:gd name="csX9" fmla="*/ 241364 w 5354136"/>
                  <a:gd name="csY9" fmla="*/ 522710 h 1004188"/>
                  <a:gd name="csX10" fmla="*/ 241364 w 5354136"/>
                  <a:gd name="csY10" fmla="*/ 472280 h 1004188"/>
                  <a:gd name="csX11" fmla="*/ 66524 w 5354136"/>
                  <a:gd name="csY11" fmla="*/ 297440 h 1004188"/>
                  <a:gd name="csX12" fmla="*/ 0 w 5354136"/>
                  <a:gd name="csY12" fmla="*/ 297440 h 1004188"/>
                  <a:gd name="csX13" fmla="*/ 0 w 5354136"/>
                  <a:gd name="csY13" fmla="*/ 49386 h 1004188"/>
                  <a:gd name="csX14" fmla="*/ 49386 w 5354136"/>
                  <a:gd name="csY14" fmla="*/ 0 h 10041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5354136" h="1004188">
                    <a:moveTo>
                      <a:pt x="49386" y="0"/>
                    </a:moveTo>
                    <a:lnTo>
                      <a:pt x="5304750" y="0"/>
                    </a:lnTo>
                    <a:cubicBezTo>
                      <a:pt x="5332025" y="0"/>
                      <a:pt x="5354136" y="22111"/>
                      <a:pt x="5354136" y="49386"/>
                    </a:cubicBezTo>
                    <a:lnTo>
                      <a:pt x="5354136" y="954802"/>
                    </a:lnTo>
                    <a:cubicBezTo>
                      <a:pt x="5354136" y="982077"/>
                      <a:pt x="5332025" y="1004188"/>
                      <a:pt x="5304750" y="1004188"/>
                    </a:cubicBezTo>
                    <a:lnTo>
                      <a:pt x="49386" y="1004188"/>
                    </a:lnTo>
                    <a:cubicBezTo>
                      <a:pt x="22111" y="1004188"/>
                      <a:pt x="0" y="982077"/>
                      <a:pt x="0" y="954802"/>
                    </a:cubicBezTo>
                    <a:lnTo>
                      <a:pt x="0" y="697550"/>
                    </a:lnTo>
                    <a:lnTo>
                      <a:pt x="66524" y="697550"/>
                    </a:lnTo>
                    <a:cubicBezTo>
                      <a:pt x="163085" y="697550"/>
                      <a:pt x="241364" y="619271"/>
                      <a:pt x="241364" y="522710"/>
                    </a:cubicBezTo>
                    <a:lnTo>
                      <a:pt x="241364" y="472280"/>
                    </a:lnTo>
                    <a:cubicBezTo>
                      <a:pt x="241364" y="375719"/>
                      <a:pt x="163085" y="297440"/>
                      <a:pt x="66524" y="297440"/>
                    </a:cubicBezTo>
                    <a:lnTo>
                      <a:pt x="0" y="297440"/>
                    </a:lnTo>
                    <a:lnTo>
                      <a:pt x="0" y="49386"/>
                    </a:lnTo>
                    <a:cubicBezTo>
                      <a:pt x="0" y="22111"/>
                      <a:pt x="22111" y="0"/>
                      <a:pt x="49386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381000" dir="10800000" algn="r" rotWithShape="0">
                  <a:schemeClr val="accent6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GH" dirty="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4ADF309-39B8-F189-2095-0DD18F96871D}"/>
                  </a:ext>
                </a:extLst>
              </p:cNvPr>
              <p:cNvSpPr txBox="1"/>
              <p:nvPr/>
            </p:nvSpPr>
            <p:spPr>
              <a:xfrm>
                <a:off x="4908570" y="2884356"/>
                <a:ext cx="3101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000" b="1" dirty="0">
                    <a:ln w="12700">
                      <a:solidFill>
                        <a:schemeClr val="accent6"/>
                      </a:solidFill>
                    </a:ln>
                    <a:solidFill>
                      <a:schemeClr val="accent6"/>
                    </a:solidFill>
                  </a:rPr>
                  <a:t>2</a:t>
                </a:r>
                <a:endParaRPr lang="en-GH" sz="2000" b="1" dirty="0">
                  <a:ln w="12700">
                    <a:solidFill>
                      <a:schemeClr val="accent6"/>
                    </a:solidFill>
                  </a:ln>
                  <a:solidFill>
                    <a:schemeClr val="accent6"/>
                  </a:solidFill>
                </a:endParaRP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C091A84-2848-6DE0-FDEC-E997CAD21A8A}"/>
                </a:ext>
              </a:extLst>
            </p:cNvPr>
            <p:cNvSpPr txBox="1"/>
            <p:nvPr/>
          </p:nvSpPr>
          <p:spPr>
            <a:xfrm>
              <a:off x="5992410" y="2884017"/>
              <a:ext cx="2936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What Drives Churn?</a:t>
              </a:r>
            </a:p>
          </p:txBody>
        </p:sp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16CDE825-6B00-4808-542D-1887D77096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59997" y="2916672"/>
              <a:ext cx="334800" cy="334800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4F0FE89-02CE-907C-1783-AE4FA01E52E3}"/>
              </a:ext>
            </a:extLst>
          </p:cNvPr>
          <p:cNvGrpSpPr/>
          <p:nvPr/>
        </p:nvGrpSpPr>
        <p:grpSpPr>
          <a:xfrm>
            <a:off x="881353" y="3912234"/>
            <a:ext cx="5425131" cy="880692"/>
            <a:chOff x="4821761" y="3912234"/>
            <a:chExt cx="5425131" cy="880692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5E7C363-55D4-D8D6-5097-39B847108642}"/>
                </a:ext>
              </a:extLst>
            </p:cNvPr>
            <p:cNvGrpSpPr/>
            <p:nvPr/>
          </p:nvGrpSpPr>
          <p:grpSpPr>
            <a:xfrm>
              <a:off x="4821761" y="3912234"/>
              <a:ext cx="5425131" cy="880692"/>
              <a:chOff x="4908570" y="2603815"/>
              <a:chExt cx="5425131" cy="1004188"/>
            </a:xfrm>
          </p:grpSpPr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6B23B60C-113F-4572-671C-592666A28E61}"/>
                  </a:ext>
                </a:extLst>
              </p:cNvPr>
              <p:cNvSpPr/>
              <p:nvPr/>
            </p:nvSpPr>
            <p:spPr>
              <a:xfrm>
                <a:off x="4979565" y="2603815"/>
                <a:ext cx="5354136" cy="1004188"/>
              </a:xfrm>
              <a:custGeom>
                <a:avLst/>
                <a:gdLst>
                  <a:gd name="csX0" fmla="*/ 49386 w 5354136"/>
                  <a:gd name="csY0" fmla="*/ 0 h 1004188"/>
                  <a:gd name="csX1" fmla="*/ 5304750 w 5354136"/>
                  <a:gd name="csY1" fmla="*/ 0 h 1004188"/>
                  <a:gd name="csX2" fmla="*/ 5354136 w 5354136"/>
                  <a:gd name="csY2" fmla="*/ 49386 h 1004188"/>
                  <a:gd name="csX3" fmla="*/ 5354136 w 5354136"/>
                  <a:gd name="csY3" fmla="*/ 954802 h 1004188"/>
                  <a:gd name="csX4" fmla="*/ 5304750 w 5354136"/>
                  <a:gd name="csY4" fmla="*/ 1004188 h 1004188"/>
                  <a:gd name="csX5" fmla="*/ 49386 w 5354136"/>
                  <a:gd name="csY5" fmla="*/ 1004188 h 1004188"/>
                  <a:gd name="csX6" fmla="*/ 0 w 5354136"/>
                  <a:gd name="csY6" fmla="*/ 954802 h 1004188"/>
                  <a:gd name="csX7" fmla="*/ 0 w 5354136"/>
                  <a:gd name="csY7" fmla="*/ 697550 h 1004188"/>
                  <a:gd name="csX8" fmla="*/ 66524 w 5354136"/>
                  <a:gd name="csY8" fmla="*/ 697550 h 1004188"/>
                  <a:gd name="csX9" fmla="*/ 241364 w 5354136"/>
                  <a:gd name="csY9" fmla="*/ 522710 h 1004188"/>
                  <a:gd name="csX10" fmla="*/ 241364 w 5354136"/>
                  <a:gd name="csY10" fmla="*/ 472280 h 1004188"/>
                  <a:gd name="csX11" fmla="*/ 66524 w 5354136"/>
                  <a:gd name="csY11" fmla="*/ 297440 h 1004188"/>
                  <a:gd name="csX12" fmla="*/ 0 w 5354136"/>
                  <a:gd name="csY12" fmla="*/ 297440 h 1004188"/>
                  <a:gd name="csX13" fmla="*/ 0 w 5354136"/>
                  <a:gd name="csY13" fmla="*/ 49386 h 1004188"/>
                  <a:gd name="csX14" fmla="*/ 49386 w 5354136"/>
                  <a:gd name="csY14" fmla="*/ 0 h 10041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5354136" h="1004188">
                    <a:moveTo>
                      <a:pt x="49386" y="0"/>
                    </a:moveTo>
                    <a:lnTo>
                      <a:pt x="5304750" y="0"/>
                    </a:lnTo>
                    <a:cubicBezTo>
                      <a:pt x="5332025" y="0"/>
                      <a:pt x="5354136" y="22111"/>
                      <a:pt x="5354136" y="49386"/>
                    </a:cubicBezTo>
                    <a:lnTo>
                      <a:pt x="5354136" y="954802"/>
                    </a:lnTo>
                    <a:cubicBezTo>
                      <a:pt x="5354136" y="982077"/>
                      <a:pt x="5332025" y="1004188"/>
                      <a:pt x="5304750" y="1004188"/>
                    </a:cubicBezTo>
                    <a:lnTo>
                      <a:pt x="49386" y="1004188"/>
                    </a:lnTo>
                    <a:cubicBezTo>
                      <a:pt x="22111" y="1004188"/>
                      <a:pt x="0" y="982077"/>
                      <a:pt x="0" y="954802"/>
                    </a:cubicBezTo>
                    <a:lnTo>
                      <a:pt x="0" y="697550"/>
                    </a:lnTo>
                    <a:lnTo>
                      <a:pt x="66524" y="697550"/>
                    </a:lnTo>
                    <a:cubicBezTo>
                      <a:pt x="163085" y="697550"/>
                      <a:pt x="241364" y="619271"/>
                      <a:pt x="241364" y="522710"/>
                    </a:cubicBezTo>
                    <a:lnTo>
                      <a:pt x="241364" y="472280"/>
                    </a:lnTo>
                    <a:cubicBezTo>
                      <a:pt x="241364" y="375719"/>
                      <a:pt x="163085" y="297440"/>
                      <a:pt x="66524" y="297440"/>
                    </a:cubicBezTo>
                    <a:lnTo>
                      <a:pt x="0" y="297440"/>
                    </a:lnTo>
                    <a:lnTo>
                      <a:pt x="0" y="49386"/>
                    </a:lnTo>
                    <a:cubicBezTo>
                      <a:pt x="0" y="22111"/>
                      <a:pt x="22111" y="0"/>
                      <a:pt x="49386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381000" dir="10800000" algn="r" rotWithShape="0">
                  <a:schemeClr val="accent6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GH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93B46E8-9CE9-46B8-58AA-D3B603544DF8}"/>
                  </a:ext>
                </a:extLst>
              </p:cNvPr>
              <p:cNvSpPr txBox="1"/>
              <p:nvPr/>
            </p:nvSpPr>
            <p:spPr>
              <a:xfrm>
                <a:off x="4908570" y="2884356"/>
                <a:ext cx="3101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000" b="1" dirty="0">
                    <a:ln w="12700">
                      <a:solidFill>
                        <a:schemeClr val="accent6">
                          <a:lumMod val="75000"/>
                        </a:schemeClr>
                      </a:solidFill>
                    </a:ln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:endParaRPr lang="en-GH" sz="2000" b="1" dirty="0">
                  <a:ln w="12700">
                    <a:solidFill>
                      <a:schemeClr val="accent6">
                        <a:lumMod val="75000"/>
                      </a:schemeClr>
                    </a:solidFill>
                  </a:ln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96DF110-44A5-73A3-B288-ECA0842F1973}"/>
                </a:ext>
              </a:extLst>
            </p:cNvPr>
            <p:cNvSpPr txBox="1"/>
            <p:nvPr/>
          </p:nvSpPr>
          <p:spPr>
            <a:xfrm>
              <a:off x="5992409" y="4149504"/>
              <a:ext cx="39151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Financial Impact of Churn</a:t>
              </a: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50D78426-9412-4D08-239E-47307F5DEA4B}"/>
                </a:ext>
              </a:extLst>
            </p:cNvPr>
            <p:cNvGrpSpPr/>
            <p:nvPr/>
          </p:nvGrpSpPr>
          <p:grpSpPr>
            <a:xfrm>
              <a:off x="5459997" y="4182159"/>
              <a:ext cx="334800" cy="334800"/>
              <a:chOff x="5395262" y="4110159"/>
              <a:chExt cx="478800" cy="478800"/>
            </a:xfrm>
            <a:solidFill>
              <a:schemeClr val="accent6">
                <a:lumMod val="75000"/>
              </a:schemeClr>
            </a:solidFill>
          </p:grpSpPr>
          <p:pic>
            <p:nvPicPr>
              <p:cNvPr id="63" name="Graphic 62">
                <a:extLst>
                  <a:ext uri="{FF2B5EF4-FFF2-40B4-BE49-F238E27FC236}">
                    <a16:creationId xmlns:a16="http://schemas.microsoft.com/office/drawing/2014/main" id="{33B334FA-414D-2835-305D-F63C6729A4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395262" y="4110159"/>
                <a:ext cx="478800" cy="478800"/>
              </a:xfrm>
              <a:prstGeom prst="rect">
                <a:avLst/>
              </a:prstGeom>
            </p:spPr>
          </p:pic>
          <p:pic>
            <p:nvPicPr>
              <p:cNvPr id="65" name="Graphic 64" descr="Dollar with solid fill">
                <a:extLst>
                  <a:ext uri="{FF2B5EF4-FFF2-40B4-BE49-F238E27FC236}">
                    <a16:creationId xmlns:a16="http://schemas.microsoft.com/office/drawing/2014/main" id="{57218250-39E6-ACD4-2EF7-A74E58A62D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577214" y="4349559"/>
                <a:ext cx="168111" cy="168111"/>
              </a:xfrm>
              <a:prstGeom prst="rect">
                <a:avLst/>
              </a:prstGeom>
            </p:spPr>
          </p:pic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8684B21-771C-5CBC-DF20-E2705A96AA0F}"/>
              </a:ext>
            </a:extLst>
          </p:cNvPr>
          <p:cNvGrpSpPr/>
          <p:nvPr/>
        </p:nvGrpSpPr>
        <p:grpSpPr>
          <a:xfrm>
            <a:off x="881353" y="5180743"/>
            <a:ext cx="5425131" cy="880692"/>
            <a:chOff x="4821761" y="5180743"/>
            <a:chExt cx="5425131" cy="88069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C66D280-DA40-D4E4-BD3B-34976F4F3F7A}"/>
                </a:ext>
              </a:extLst>
            </p:cNvPr>
            <p:cNvGrpSpPr/>
            <p:nvPr/>
          </p:nvGrpSpPr>
          <p:grpSpPr>
            <a:xfrm>
              <a:off x="4821761" y="5180743"/>
              <a:ext cx="5425131" cy="880692"/>
              <a:chOff x="4908570" y="2603815"/>
              <a:chExt cx="5425131" cy="1004188"/>
            </a:xfrm>
          </p:grpSpPr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B991A023-2BC4-2CEC-E384-AA980BC1564A}"/>
                  </a:ext>
                </a:extLst>
              </p:cNvPr>
              <p:cNvSpPr/>
              <p:nvPr/>
            </p:nvSpPr>
            <p:spPr>
              <a:xfrm>
                <a:off x="4979565" y="2603815"/>
                <a:ext cx="5354136" cy="1004188"/>
              </a:xfrm>
              <a:custGeom>
                <a:avLst/>
                <a:gdLst>
                  <a:gd name="csX0" fmla="*/ 49386 w 5354136"/>
                  <a:gd name="csY0" fmla="*/ 0 h 1004188"/>
                  <a:gd name="csX1" fmla="*/ 5304750 w 5354136"/>
                  <a:gd name="csY1" fmla="*/ 0 h 1004188"/>
                  <a:gd name="csX2" fmla="*/ 5354136 w 5354136"/>
                  <a:gd name="csY2" fmla="*/ 49386 h 1004188"/>
                  <a:gd name="csX3" fmla="*/ 5354136 w 5354136"/>
                  <a:gd name="csY3" fmla="*/ 954802 h 1004188"/>
                  <a:gd name="csX4" fmla="*/ 5304750 w 5354136"/>
                  <a:gd name="csY4" fmla="*/ 1004188 h 1004188"/>
                  <a:gd name="csX5" fmla="*/ 49386 w 5354136"/>
                  <a:gd name="csY5" fmla="*/ 1004188 h 1004188"/>
                  <a:gd name="csX6" fmla="*/ 0 w 5354136"/>
                  <a:gd name="csY6" fmla="*/ 954802 h 1004188"/>
                  <a:gd name="csX7" fmla="*/ 0 w 5354136"/>
                  <a:gd name="csY7" fmla="*/ 697550 h 1004188"/>
                  <a:gd name="csX8" fmla="*/ 66524 w 5354136"/>
                  <a:gd name="csY8" fmla="*/ 697550 h 1004188"/>
                  <a:gd name="csX9" fmla="*/ 241364 w 5354136"/>
                  <a:gd name="csY9" fmla="*/ 522710 h 1004188"/>
                  <a:gd name="csX10" fmla="*/ 241364 w 5354136"/>
                  <a:gd name="csY10" fmla="*/ 472280 h 1004188"/>
                  <a:gd name="csX11" fmla="*/ 66524 w 5354136"/>
                  <a:gd name="csY11" fmla="*/ 297440 h 1004188"/>
                  <a:gd name="csX12" fmla="*/ 0 w 5354136"/>
                  <a:gd name="csY12" fmla="*/ 297440 h 1004188"/>
                  <a:gd name="csX13" fmla="*/ 0 w 5354136"/>
                  <a:gd name="csY13" fmla="*/ 49386 h 1004188"/>
                  <a:gd name="csX14" fmla="*/ 49386 w 5354136"/>
                  <a:gd name="csY14" fmla="*/ 0 h 10041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5354136" h="1004188">
                    <a:moveTo>
                      <a:pt x="49386" y="0"/>
                    </a:moveTo>
                    <a:lnTo>
                      <a:pt x="5304750" y="0"/>
                    </a:lnTo>
                    <a:cubicBezTo>
                      <a:pt x="5332025" y="0"/>
                      <a:pt x="5354136" y="22111"/>
                      <a:pt x="5354136" y="49386"/>
                    </a:cubicBezTo>
                    <a:lnTo>
                      <a:pt x="5354136" y="954802"/>
                    </a:lnTo>
                    <a:cubicBezTo>
                      <a:pt x="5354136" y="982077"/>
                      <a:pt x="5332025" y="1004188"/>
                      <a:pt x="5304750" y="1004188"/>
                    </a:cubicBezTo>
                    <a:lnTo>
                      <a:pt x="49386" y="1004188"/>
                    </a:lnTo>
                    <a:cubicBezTo>
                      <a:pt x="22111" y="1004188"/>
                      <a:pt x="0" y="982077"/>
                      <a:pt x="0" y="954802"/>
                    </a:cubicBezTo>
                    <a:lnTo>
                      <a:pt x="0" y="697550"/>
                    </a:lnTo>
                    <a:lnTo>
                      <a:pt x="66524" y="697550"/>
                    </a:lnTo>
                    <a:cubicBezTo>
                      <a:pt x="163085" y="697550"/>
                      <a:pt x="241364" y="619271"/>
                      <a:pt x="241364" y="522710"/>
                    </a:cubicBezTo>
                    <a:lnTo>
                      <a:pt x="241364" y="472280"/>
                    </a:lnTo>
                    <a:cubicBezTo>
                      <a:pt x="241364" y="375719"/>
                      <a:pt x="163085" y="297440"/>
                      <a:pt x="66524" y="297440"/>
                    </a:cubicBezTo>
                    <a:lnTo>
                      <a:pt x="0" y="297440"/>
                    </a:lnTo>
                    <a:lnTo>
                      <a:pt x="0" y="49386"/>
                    </a:lnTo>
                    <a:cubicBezTo>
                      <a:pt x="0" y="22111"/>
                      <a:pt x="22111" y="0"/>
                      <a:pt x="49386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381000" dir="10800000" algn="r" rotWithShape="0">
                  <a:schemeClr val="accent5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GH" dirty="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4585670-6396-F355-21F1-276019DFC0A4}"/>
                  </a:ext>
                </a:extLst>
              </p:cNvPr>
              <p:cNvSpPr txBox="1"/>
              <p:nvPr/>
            </p:nvSpPr>
            <p:spPr>
              <a:xfrm>
                <a:off x="4908570" y="2884356"/>
                <a:ext cx="3101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000" b="1" dirty="0">
                    <a:ln w="12700">
                      <a:solidFill>
                        <a:schemeClr val="accent5"/>
                      </a:solidFill>
                    </a:ln>
                    <a:solidFill>
                      <a:schemeClr val="accent5"/>
                    </a:solidFill>
                  </a:rPr>
                  <a:t>4</a:t>
                </a:r>
                <a:endParaRPr lang="en-GH" sz="2000" b="1" dirty="0">
                  <a:ln w="12700">
                    <a:solidFill>
                      <a:schemeClr val="accent5"/>
                    </a:solidFill>
                  </a:ln>
                  <a:solidFill>
                    <a:schemeClr val="accent5"/>
                  </a:solidFill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51EF895-E120-04D2-A17F-884691C64B3C}"/>
                </a:ext>
              </a:extLst>
            </p:cNvPr>
            <p:cNvSpPr txBox="1"/>
            <p:nvPr/>
          </p:nvSpPr>
          <p:spPr>
            <a:xfrm>
              <a:off x="5992409" y="5421034"/>
              <a:ext cx="41446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Turning the Tide: Our Strategic Pivot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B6ED7A96-4738-A28A-CB71-6C24FBA2D847}"/>
                </a:ext>
              </a:extLst>
            </p:cNvPr>
            <p:cNvGrpSpPr/>
            <p:nvPr/>
          </p:nvGrpSpPr>
          <p:grpSpPr>
            <a:xfrm>
              <a:off x="5444639" y="5425741"/>
              <a:ext cx="370800" cy="370800"/>
              <a:chOff x="5359262" y="5381689"/>
              <a:chExt cx="478800" cy="478800"/>
            </a:xfrm>
            <a:solidFill>
              <a:schemeClr val="accent5"/>
            </a:solidFill>
          </p:grpSpPr>
          <p:pic>
            <p:nvPicPr>
              <p:cNvPr id="57" name="Graphic 56">
                <a:extLst>
                  <a:ext uri="{FF2B5EF4-FFF2-40B4-BE49-F238E27FC236}">
                    <a16:creationId xmlns:a16="http://schemas.microsoft.com/office/drawing/2014/main" id="{9A3A96C8-66B7-D1C3-23D2-039317DFC4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flipH="1">
                <a:off x="5359262" y="5381689"/>
                <a:ext cx="478800" cy="478800"/>
              </a:xfrm>
              <a:prstGeom prst="rect">
                <a:avLst/>
              </a:prstGeom>
            </p:spPr>
          </p:pic>
          <p:pic>
            <p:nvPicPr>
              <p:cNvPr id="66" name="Graphic 65" descr="Dollar with solid fill">
                <a:extLst>
                  <a:ext uri="{FF2B5EF4-FFF2-40B4-BE49-F238E27FC236}">
                    <a16:creationId xmlns:a16="http://schemas.microsoft.com/office/drawing/2014/main" id="{16ABCAB3-63F7-0D29-D555-9AEFE3CEE7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520643" y="5590410"/>
                <a:ext cx="149216" cy="149216"/>
              </a:xfrm>
              <a:prstGeom prst="rect">
                <a:avLst/>
              </a:prstGeom>
            </p:spPr>
          </p:pic>
        </p:grpSp>
      </p:grp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FA24237B-864B-6CE8-E132-2289ADF0C5EB}"/>
              </a:ext>
            </a:extLst>
          </p:cNvPr>
          <p:cNvSpPr/>
          <p:nvPr/>
        </p:nvSpPr>
        <p:spPr>
          <a:xfrm rot="16200000">
            <a:off x="6957866" y="943466"/>
            <a:ext cx="5497200" cy="4971068"/>
          </a:xfrm>
          <a:prstGeom prst="round2SameRect">
            <a:avLst>
              <a:gd name="adj1" fmla="val 2012"/>
              <a:gd name="adj2" fmla="val 0"/>
            </a:avLst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590677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C8DAFDD-1065-19E6-D67B-04086C9BB1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3103208"/>
              </p:ext>
            </p:extLst>
          </p:nvPr>
        </p:nvGraphicFramePr>
        <p:xfrm>
          <a:off x="0" y="1745600"/>
          <a:ext cx="5054216" cy="41861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380E238-4EA9-EA0F-A57D-B2BA44A996D0}"/>
              </a:ext>
            </a:extLst>
          </p:cNvPr>
          <p:cNvSpPr txBox="1"/>
          <p:nvPr/>
        </p:nvSpPr>
        <p:spPr>
          <a:xfrm>
            <a:off x="804231" y="561859"/>
            <a:ext cx="10303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One in Five Customers Are Exiting the Bank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13BD583-5322-8B26-CE9C-98A9A4A8776E}"/>
              </a:ext>
            </a:extLst>
          </p:cNvPr>
          <p:cNvGrpSpPr/>
          <p:nvPr/>
        </p:nvGrpSpPr>
        <p:grpSpPr>
          <a:xfrm>
            <a:off x="5641537" y="2954394"/>
            <a:ext cx="2439543" cy="1169551"/>
            <a:chOff x="5916958" y="2846814"/>
            <a:chExt cx="2439543" cy="116955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A453745-05B6-99F2-785D-D58D8F61A73B}"/>
                </a:ext>
              </a:extLst>
            </p:cNvPr>
            <p:cNvSpPr txBox="1"/>
            <p:nvPr/>
          </p:nvSpPr>
          <p:spPr>
            <a:xfrm>
              <a:off x="5916958" y="2846814"/>
              <a:ext cx="2439543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/>
              <a:r>
                <a:rPr 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  </a:t>
              </a:r>
              <a:r>
                <a:rPr lang="en-US" sz="2000" b="1" dirty="0">
                  <a:solidFill>
                    <a:schemeClr val="accent6"/>
                  </a:solidFill>
                </a:rPr>
                <a:t>2,037</a:t>
              </a:r>
              <a:endParaRPr lang="en-US" dirty="0">
                <a:solidFill>
                  <a:schemeClr val="accent6"/>
                </a:solidFill>
              </a:endParaRPr>
            </a:p>
            <a:p>
              <a:pPr lvl="1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   </a:t>
              </a:r>
              <a:r>
                <a:rPr lang="en-US" sz="1200" b="1" dirty="0">
                  <a:solidFill>
                    <a:schemeClr val="bg1">
                      <a:lumMod val="50000"/>
                    </a:schemeClr>
                  </a:solidFill>
                </a:rPr>
                <a:t>Customers Lost </a:t>
              </a:r>
            </a:p>
            <a:p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Signals a pressing need for strategic intervention.</a:t>
              </a:r>
              <a:endParaRPr lang="en-GH" sz="14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AB5BC31-4F21-FD32-BEB9-49DF549D1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34162" y="2950848"/>
              <a:ext cx="432333" cy="432333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EFE8092-0B72-0217-C5F8-5BCFE1214199}"/>
              </a:ext>
            </a:extLst>
          </p:cNvPr>
          <p:cNvGrpSpPr/>
          <p:nvPr/>
        </p:nvGrpSpPr>
        <p:grpSpPr>
          <a:xfrm>
            <a:off x="8668401" y="2956699"/>
            <a:ext cx="2439543" cy="1200329"/>
            <a:chOff x="5918014" y="4527932"/>
            <a:chExt cx="2439543" cy="123144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F5CE8F9-5DCA-7131-D71B-3DE39A26E218}"/>
                </a:ext>
              </a:extLst>
            </p:cNvPr>
            <p:cNvSpPr txBox="1"/>
            <p:nvPr/>
          </p:nvSpPr>
          <p:spPr>
            <a:xfrm>
              <a:off x="5918014" y="4527932"/>
              <a:ext cx="2439543" cy="1231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           </a:t>
              </a:r>
              <a:r>
                <a:rPr lang="en-US" sz="2000" b="1" dirty="0">
                  <a:solidFill>
                    <a:schemeClr val="accent4"/>
                  </a:solidFill>
                </a:rPr>
                <a:t>7,963</a:t>
              </a: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              </a:t>
              </a:r>
              <a:r>
                <a:rPr lang="en-US" sz="1200" b="1" dirty="0">
                  <a:solidFill>
                    <a:schemeClr val="bg1">
                      <a:lumMod val="50000"/>
                    </a:schemeClr>
                  </a:solidFill>
                </a:rPr>
                <a:t>Customers Retained</a:t>
              </a: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</a:p>
            <a:p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Highlights a critical opportunity for improvement.</a:t>
              </a:r>
              <a:endParaRPr lang="en-GH" sz="14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259DB6AE-26C7-36C9-0076-895A1DA7A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5441" y="4594032"/>
              <a:ext cx="569774" cy="512284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2233423-F0F8-3558-A53F-A9C6351F7F5E}"/>
              </a:ext>
            </a:extLst>
          </p:cNvPr>
          <p:cNvGrpSpPr/>
          <p:nvPr/>
        </p:nvGrpSpPr>
        <p:grpSpPr>
          <a:xfrm>
            <a:off x="5641537" y="4459238"/>
            <a:ext cx="2440929" cy="1138773"/>
            <a:chOff x="8550560" y="2846812"/>
            <a:chExt cx="2440929" cy="113877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37DAD5A-016F-7E76-90CA-F7367D797699}"/>
                </a:ext>
              </a:extLst>
            </p:cNvPr>
            <p:cNvSpPr txBox="1"/>
            <p:nvPr/>
          </p:nvSpPr>
          <p:spPr>
            <a:xfrm>
              <a:off x="8550560" y="2846812"/>
              <a:ext cx="2440929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/>
              <a:r>
                <a:rPr 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  </a:t>
              </a:r>
              <a:r>
                <a:rPr lang="en-US" sz="2000" b="1" dirty="0">
                  <a:solidFill>
                    <a:schemeClr val="accent6"/>
                  </a:solidFill>
                </a:rPr>
                <a:t>$185,588,095 </a:t>
              </a:r>
            </a:p>
            <a:p>
              <a:pPr lvl="1"/>
              <a:r>
                <a:rPr 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    </a:t>
              </a:r>
              <a:r>
                <a:rPr lang="en-US" sz="1200" b="1" dirty="0">
                  <a:solidFill>
                    <a:schemeClr val="bg1">
                      <a:lumMod val="50000"/>
                    </a:schemeClr>
                  </a:solidFill>
                </a:rPr>
                <a:t>Total Balance Lost </a:t>
              </a:r>
            </a:p>
            <a:p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Churned customers took </a:t>
              </a:r>
              <a:r>
                <a:rPr 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24.3%</a:t>
              </a:r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of the total balance.</a:t>
              </a:r>
              <a:endParaRPr lang="en-GH" sz="14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31E41071-11AB-0396-5660-DFC6BC384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29961" y="2880156"/>
              <a:ext cx="492006" cy="492006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5615E0F-A92F-9616-54B9-DE7209752161}"/>
              </a:ext>
            </a:extLst>
          </p:cNvPr>
          <p:cNvGrpSpPr/>
          <p:nvPr/>
        </p:nvGrpSpPr>
        <p:grpSpPr>
          <a:xfrm>
            <a:off x="8668401" y="4459239"/>
            <a:ext cx="2439542" cy="1138773"/>
            <a:chOff x="8551947" y="4527931"/>
            <a:chExt cx="2439542" cy="113877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DFBD123-E4F5-3ABB-8064-EFA0E42907E3}"/>
                </a:ext>
              </a:extLst>
            </p:cNvPr>
            <p:cNvSpPr txBox="1"/>
            <p:nvPr/>
          </p:nvSpPr>
          <p:spPr>
            <a:xfrm>
              <a:off x="8551947" y="4527931"/>
              <a:ext cx="2439542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           </a:t>
              </a:r>
              <a:r>
                <a:rPr lang="en-US" sz="2000" b="1" dirty="0">
                  <a:solidFill>
                    <a:schemeClr val="accent4"/>
                  </a:solidFill>
                </a:rPr>
                <a:t>$579,270,798</a:t>
              </a:r>
            </a:p>
            <a:p>
              <a:r>
                <a:rPr 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                   </a:t>
              </a:r>
              <a:r>
                <a:rPr lang="en-US" sz="1200" b="1" dirty="0">
                  <a:solidFill>
                    <a:schemeClr val="bg1">
                      <a:lumMod val="50000"/>
                    </a:schemeClr>
                  </a:solidFill>
                </a:rPr>
                <a:t>Total Balance Retained </a:t>
              </a:r>
            </a:p>
            <a:p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r>
                <a:rPr 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59.2%</a:t>
              </a:r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current balance poses a risk if churn is not curbed.</a:t>
              </a:r>
              <a:endParaRPr lang="en-GH" sz="14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45" name="Graphic 44" descr="Money with solid fill">
              <a:extLst>
                <a:ext uri="{FF2B5EF4-FFF2-40B4-BE49-F238E27FC236}">
                  <a16:creationId xmlns:a16="http://schemas.microsoft.com/office/drawing/2014/main" id="{528B80B1-55AB-EF2B-D23C-23306271E8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629961" y="4594032"/>
              <a:ext cx="492006" cy="512283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B0199DE-C067-5358-93E4-948B4988871C}"/>
              </a:ext>
            </a:extLst>
          </p:cNvPr>
          <p:cNvGrpSpPr/>
          <p:nvPr/>
        </p:nvGrpSpPr>
        <p:grpSpPr>
          <a:xfrm>
            <a:off x="5974907" y="1745600"/>
            <a:ext cx="4941258" cy="861774"/>
            <a:chOff x="5965441" y="1652798"/>
            <a:chExt cx="4941258" cy="86177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4A8664D-CE72-BF8C-F3CD-0A9C0528F7BB}"/>
                </a:ext>
              </a:extLst>
            </p:cNvPr>
            <p:cNvSpPr txBox="1"/>
            <p:nvPr/>
          </p:nvSpPr>
          <p:spPr>
            <a:xfrm>
              <a:off x="6004193" y="1652798"/>
              <a:ext cx="4902506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               </a:t>
              </a:r>
              <a:r>
                <a:rPr lang="en-US" sz="2200" b="1" dirty="0"/>
                <a:t>10,000</a:t>
              </a: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r>
                <a:rPr lang="en-US" sz="1200" b="1" dirty="0">
                  <a:solidFill>
                    <a:schemeClr val="bg1">
                      <a:lumMod val="50000"/>
                    </a:schemeClr>
                  </a:solidFill>
                </a:rPr>
                <a:t>Total Customers Analyzed</a:t>
              </a:r>
            </a:p>
            <a:p>
              <a:r>
                <a:rPr 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                          </a:t>
              </a:r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Significant sample size to analyze and pinpoint</a:t>
              </a:r>
            </a:p>
            <a:p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                churn drivers across diverse segments. </a:t>
              </a:r>
              <a:endParaRPr lang="en-GH" sz="14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5D5CAB45-F62A-0C6F-403E-48D5D41E1A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965441" y="1745600"/>
              <a:ext cx="832349" cy="68906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C03741E-ADA4-7686-2EF9-2F52ACAD61D9}"/>
              </a:ext>
            </a:extLst>
          </p:cNvPr>
          <p:cNvCxnSpPr/>
          <p:nvPr/>
        </p:nvCxnSpPr>
        <p:spPr>
          <a:xfrm>
            <a:off x="5720938" y="4307595"/>
            <a:ext cx="5306946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77056B-BD95-8539-004D-FEF12DAA9708}"/>
              </a:ext>
            </a:extLst>
          </p:cNvPr>
          <p:cNvCxnSpPr/>
          <p:nvPr/>
        </p:nvCxnSpPr>
        <p:spPr>
          <a:xfrm>
            <a:off x="5720938" y="2823952"/>
            <a:ext cx="5306946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F5819E8-26CE-B0FC-3FAA-B0E8098211D8}"/>
              </a:ext>
            </a:extLst>
          </p:cNvPr>
          <p:cNvCxnSpPr/>
          <p:nvPr/>
        </p:nvCxnSpPr>
        <p:spPr>
          <a:xfrm>
            <a:off x="5720938" y="5755556"/>
            <a:ext cx="5306946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F2B99FA-64D8-A4E5-E266-54DD6C63765D}"/>
              </a:ext>
            </a:extLst>
          </p:cNvPr>
          <p:cNvGrpSpPr/>
          <p:nvPr/>
        </p:nvGrpSpPr>
        <p:grpSpPr>
          <a:xfrm>
            <a:off x="8073881" y="4962554"/>
            <a:ext cx="402697" cy="181631"/>
            <a:chOff x="7788827" y="4984588"/>
            <a:chExt cx="812553" cy="283521"/>
          </a:xfrm>
          <a:solidFill>
            <a:schemeClr val="bg2">
              <a:lumMod val="90000"/>
            </a:schemeClr>
          </a:solidFill>
        </p:grpSpPr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1A7E2F50-105F-86D7-803C-2E6784C2F91A}"/>
                </a:ext>
              </a:extLst>
            </p:cNvPr>
            <p:cNvSpPr/>
            <p:nvPr/>
          </p:nvSpPr>
          <p:spPr>
            <a:xfrm>
              <a:off x="8207792" y="4984588"/>
              <a:ext cx="393588" cy="283521"/>
            </a:xfrm>
            <a:prstGeom prst="rightArrow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/>
            </a:p>
          </p:txBody>
        </p:sp>
        <p:sp>
          <p:nvSpPr>
            <p:cNvPr id="62" name="Arrow: Right 61">
              <a:extLst>
                <a:ext uri="{FF2B5EF4-FFF2-40B4-BE49-F238E27FC236}">
                  <a16:creationId xmlns:a16="http://schemas.microsoft.com/office/drawing/2014/main" id="{8A827E53-DC87-A103-B1F9-3FCCE5DC1B41}"/>
                </a:ext>
              </a:extLst>
            </p:cNvPr>
            <p:cNvSpPr/>
            <p:nvPr/>
          </p:nvSpPr>
          <p:spPr>
            <a:xfrm rot="10800000">
              <a:off x="7788827" y="4984588"/>
              <a:ext cx="393588" cy="283521"/>
            </a:xfrm>
            <a:prstGeom prst="rightArrow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90B25C0-6FE5-04C2-32E9-759DDD040A3A}"/>
              </a:ext>
            </a:extLst>
          </p:cNvPr>
          <p:cNvGrpSpPr/>
          <p:nvPr/>
        </p:nvGrpSpPr>
        <p:grpSpPr>
          <a:xfrm>
            <a:off x="8081080" y="3523383"/>
            <a:ext cx="402697" cy="181631"/>
            <a:chOff x="7788827" y="4984588"/>
            <a:chExt cx="812553" cy="283521"/>
          </a:xfrm>
          <a:solidFill>
            <a:schemeClr val="bg2">
              <a:lumMod val="90000"/>
            </a:schemeClr>
          </a:solidFill>
        </p:grpSpPr>
        <p:sp>
          <p:nvSpPr>
            <p:cNvPr id="65" name="Arrow: Right 64">
              <a:extLst>
                <a:ext uri="{FF2B5EF4-FFF2-40B4-BE49-F238E27FC236}">
                  <a16:creationId xmlns:a16="http://schemas.microsoft.com/office/drawing/2014/main" id="{4A5423AC-01B8-5106-6CF8-6B5039645D00}"/>
                </a:ext>
              </a:extLst>
            </p:cNvPr>
            <p:cNvSpPr/>
            <p:nvPr/>
          </p:nvSpPr>
          <p:spPr>
            <a:xfrm>
              <a:off x="8207792" y="4984588"/>
              <a:ext cx="393588" cy="283521"/>
            </a:xfrm>
            <a:prstGeom prst="rightArrow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/>
            </a:p>
          </p:txBody>
        </p:sp>
        <p:sp>
          <p:nvSpPr>
            <p:cNvPr id="66" name="Arrow: Right 65">
              <a:extLst>
                <a:ext uri="{FF2B5EF4-FFF2-40B4-BE49-F238E27FC236}">
                  <a16:creationId xmlns:a16="http://schemas.microsoft.com/office/drawing/2014/main" id="{C1725218-0118-E5DF-C477-A566600564A1}"/>
                </a:ext>
              </a:extLst>
            </p:cNvPr>
            <p:cNvSpPr/>
            <p:nvPr/>
          </p:nvSpPr>
          <p:spPr>
            <a:xfrm rot="10800000">
              <a:off x="7788827" y="4984588"/>
              <a:ext cx="393588" cy="283521"/>
            </a:xfrm>
            <a:prstGeom prst="rightArrow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/>
            </a:p>
          </p:txBody>
        </p:sp>
      </p:grpSp>
    </p:spTree>
    <p:extLst>
      <p:ext uri="{BB962C8B-B14F-4D97-AF65-F5344CB8AC3E}">
        <p14:creationId xmlns:p14="http://schemas.microsoft.com/office/powerpoint/2010/main" val="2122793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A063B3-E069-564F-8021-1BBA61241CDA}"/>
              </a:ext>
            </a:extLst>
          </p:cNvPr>
          <p:cNvSpPr txBox="1"/>
          <p:nvPr/>
        </p:nvSpPr>
        <p:spPr>
          <a:xfrm>
            <a:off x="804232" y="561859"/>
            <a:ext cx="10477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What Drives Churn?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F9620EE-0711-831B-D810-292E955B0763}"/>
              </a:ext>
            </a:extLst>
          </p:cNvPr>
          <p:cNvGrpSpPr/>
          <p:nvPr/>
        </p:nvGrpSpPr>
        <p:grpSpPr>
          <a:xfrm>
            <a:off x="903162" y="1781908"/>
            <a:ext cx="2775600" cy="3754800"/>
            <a:chOff x="903162" y="1781908"/>
            <a:chExt cx="2775600" cy="37548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BB02952-C7B8-AB95-D2EE-F70393243DB7}"/>
                </a:ext>
              </a:extLst>
            </p:cNvPr>
            <p:cNvSpPr/>
            <p:nvPr/>
          </p:nvSpPr>
          <p:spPr>
            <a:xfrm>
              <a:off x="903162" y="1781908"/>
              <a:ext cx="2775600" cy="3754800"/>
            </a:xfrm>
            <a:prstGeom prst="roundRect">
              <a:avLst>
                <a:gd name="adj" fmla="val 6155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>
              <a:outerShdw blurRad="101600" dist="76200" dir="18900000" algn="b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r>
                <a:rPr lang="en-US" sz="175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Key Drivers</a:t>
              </a:r>
            </a:p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</a:p>
            <a:p>
              <a:endPara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en-US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</a:t>
              </a:r>
              <a:r>
                <a:rPr lang="en-US" sz="15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Demographic</a:t>
              </a:r>
            </a:p>
            <a:p>
              <a:r>
                <a:rPr lang="en-US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</a:t>
              </a:r>
            </a:p>
            <a:p>
              <a:r>
                <a:rPr lang="en-US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     Age</a:t>
              </a:r>
            </a:p>
            <a:p>
              <a:endParaRPr lang="en-US" sz="5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r>
                <a:rPr lang="en-US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    Gender</a:t>
              </a:r>
            </a:p>
            <a:p>
              <a:endParaRPr lang="en-US" sz="5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r>
                <a:rPr lang="en-US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    Geography</a:t>
              </a:r>
            </a:p>
            <a:p>
              <a:endParaRPr lang="en-US" sz="20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r>
                <a:rPr lang="en-US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</a:t>
              </a:r>
              <a:r>
                <a:rPr lang="en-US" sz="15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Account Relationship</a:t>
              </a:r>
            </a:p>
            <a:p>
              <a:r>
                <a:rPr lang="en-US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</a:t>
              </a:r>
            </a:p>
            <a:p>
              <a:r>
                <a:rPr lang="en-US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    Activity Status</a:t>
              </a:r>
            </a:p>
            <a:p>
              <a:endParaRPr lang="en-US" sz="5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r>
                <a:rPr lang="en-US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    Number of Products</a:t>
              </a:r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CB287255-138C-9A17-E32B-FA29CC3D5BFD}"/>
                </a:ext>
              </a:extLst>
            </p:cNvPr>
            <p:cNvCxnSpPr/>
            <p:nvPr/>
          </p:nvCxnSpPr>
          <p:spPr>
            <a:xfrm>
              <a:off x="1044954" y="2479890"/>
              <a:ext cx="2498400" cy="0"/>
            </a:xfrm>
            <a:prstGeom prst="line">
              <a:avLst/>
            </a:prstGeom>
            <a:ln w="3175">
              <a:solidFill>
                <a:srgbClr val="F38C3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FB8E08A-BCC2-0250-C542-B462F140F720}"/>
                </a:ext>
              </a:extLst>
            </p:cNvPr>
            <p:cNvSpPr/>
            <p:nvPr/>
          </p:nvSpPr>
          <p:spPr>
            <a:xfrm>
              <a:off x="1285579" y="3177881"/>
              <a:ext cx="75600" cy="75600"/>
            </a:xfrm>
            <a:prstGeom prst="ellipse">
              <a:avLst/>
            </a:prstGeom>
            <a:solidFill>
              <a:srgbClr val="F38C3E"/>
            </a:solidFill>
            <a:ln>
              <a:solidFill>
                <a:srgbClr val="F38C3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3E980D9-5152-0F28-4620-4CFF02B3BBEF}"/>
                </a:ext>
              </a:extLst>
            </p:cNvPr>
            <p:cNvSpPr/>
            <p:nvPr/>
          </p:nvSpPr>
          <p:spPr>
            <a:xfrm>
              <a:off x="1276152" y="3717459"/>
              <a:ext cx="75600" cy="75600"/>
            </a:xfrm>
            <a:prstGeom prst="ellipse">
              <a:avLst/>
            </a:prstGeom>
            <a:solidFill>
              <a:srgbClr val="F38C3E"/>
            </a:solidFill>
            <a:ln>
              <a:solidFill>
                <a:srgbClr val="F38C3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2787EB6-470F-A628-208B-93E9AF11DF27}"/>
                </a:ext>
              </a:extLst>
            </p:cNvPr>
            <p:cNvSpPr/>
            <p:nvPr/>
          </p:nvSpPr>
          <p:spPr>
            <a:xfrm>
              <a:off x="1276152" y="3447670"/>
              <a:ext cx="75600" cy="75600"/>
            </a:xfrm>
            <a:prstGeom prst="ellipse">
              <a:avLst/>
            </a:prstGeom>
            <a:solidFill>
              <a:srgbClr val="F38C3E"/>
            </a:solidFill>
            <a:ln>
              <a:solidFill>
                <a:srgbClr val="F38C3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F262BB6-E981-FBA0-A34B-73C92227D4C1}"/>
                </a:ext>
              </a:extLst>
            </p:cNvPr>
            <p:cNvSpPr/>
            <p:nvPr/>
          </p:nvSpPr>
          <p:spPr>
            <a:xfrm>
              <a:off x="1276152" y="4926672"/>
              <a:ext cx="75600" cy="75600"/>
            </a:xfrm>
            <a:prstGeom prst="ellipse">
              <a:avLst/>
            </a:prstGeom>
            <a:solidFill>
              <a:srgbClr val="F38C3E"/>
            </a:solidFill>
            <a:ln>
              <a:solidFill>
                <a:srgbClr val="F38C3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E0F1555-7D1B-2AE8-8956-BED991B0DF69}"/>
                </a:ext>
              </a:extLst>
            </p:cNvPr>
            <p:cNvSpPr/>
            <p:nvPr/>
          </p:nvSpPr>
          <p:spPr>
            <a:xfrm>
              <a:off x="1279593" y="4649056"/>
              <a:ext cx="75600" cy="75600"/>
            </a:xfrm>
            <a:prstGeom prst="ellipse">
              <a:avLst/>
            </a:prstGeom>
            <a:solidFill>
              <a:srgbClr val="F38C3E"/>
            </a:solidFill>
            <a:ln>
              <a:solidFill>
                <a:srgbClr val="F38C3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56C8E79-7AC1-397A-E82B-35FD70C0092D}"/>
              </a:ext>
            </a:extLst>
          </p:cNvPr>
          <p:cNvGrpSpPr/>
          <p:nvPr/>
        </p:nvGrpSpPr>
        <p:grpSpPr>
          <a:xfrm>
            <a:off x="4579708" y="1781177"/>
            <a:ext cx="2885283" cy="3754800"/>
            <a:chOff x="4579708" y="1781177"/>
            <a:chExt cx="2885283" cy="375480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E9AF884-DE72-AD6D-42A2-D6832789BE53}"/>
                </a:ext>
              </a:extLst>
            </p:cNvPr>
            <p:cNvSpPr/>
            <p:nvPr/>
          </p:nvSpPr>
          <p:spPr>
            <a:xfrm>
              <a:off x="4579708" y="1781177"/>
              <a:ext cx="2885283" cy="3754800"/>
            </a:xfrm>
            <a:prstGeom prst="roundRect">
              <a:avLst>
                <a:gd name="adj" fmla="val 6155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101600" dist="76200" dir="18900000" algn="b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r>
                <a:rPr lang="en-US" sz="175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Weak Standalone Drivers</a:t>
              </a:r>
            </a:p>
            <a:p>
              <a:endPara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endPara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en-US" sz="13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</a:t>
              </a:r>
              <a:r>
                <a:rPr lang="en-US" sz="15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Financial Profile</a:t>
              </a:r>
            </a:p>
            <a:p>
              <a:r>
                <a:rPr lang="en-US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</a:p>
            <a:p>
              <a:r>
                <a:rPr lang="en-US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    Balance</a:t>
              </a:r>
            </a:p>
            <a:p>
              <a:endParaRPr lang="en-US" sz="5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r>
                <a:rPr lang="en-US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    Credit Score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356C196-602C-8F95-8DB1-D3D826F8B695}"/>
                </a:ext>
              </a:extLst>
            </p:cNvPr>
            <p:cNvCxnSpPr/>
            <p:nvPr/>
          </p:nvCxnSpPr>
          <p:spPr>
            <a:xfrm>
              <a:off x="4766463" y="2465733"/>
              <a:ext cx="2498400" cy="0"/>
            </a:xfrm>
            <a:prstGeom prst="line">
              <a:avLst/>
            </a:prstGeom>
            <a:ln w="31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C9604FB-6466-1CE1-006E-9FD311A57221}"/>
                </a:ext>
              </a:extLst>
            </p:cNvPr>
            <p:cNvSpPr/>
            <p:nvPr/>
          </p:nvSpPr>
          <p:spPr>
            <a:xfrm>
              <a:off x="4941155" y="3190881"/>
              <a:ext cx="75600" cy="756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BE72161-A343-4C0C-E7E1-A65A3E7199FE}"/>
                </a:ext>
              </a:extLst>
            </p:cNvPr>
            <p:cNvSpPr/>
            <p:nvPr/>
          </p:nvSpPr>
          <p:spPr>
            <a:xfrm>
              <a:off x="4941155" y="3457097"/>
              <a:ext cx="75600" cy="756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9338732-03A3-3423-DDC5-1766FE5F7CCD}"/>
              </a:ext>
            </a:extLst>
          </p:cNvPr>
          <p:cNvGrpSpPr/>
          <p:nvPr/>
        </p:nvGrpSpPr>
        <p:grpSpPr>
          <a:xfrm>
            <a:off x="8365936" y="1781177"/>
            <a:ext cx="2775600" cy="3754800"/>
            <a:chOff x="8365936" y="1781177"/>
            <a:chExt cx="2775600" cy="37548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1C331CE-D3CD-1319-E5FA-AC321806EEEC}"/>
                </a:ext>
              </a:extLst>
            </p:cNvPr>
            <p:cNvSpPr/>
            <p:nvPr/>
          </p:nvSpPr>
          <p:spPr>
            <a:xfrm>
              <a:off x="8365936" y="1781177"/>
              <a:ext cx="2775600" cy="3754800"/>
            </a:xfrm>
            <a:prstGeom prst="roundRect">
              <a:avLst>
                <a:gd name="adj" fmla="val 6155"/>
              </a:avLst>
            </a:prstGeom>
            <a:solidFill>
              <a:schemeClr val="accent1">
                <a:lumMod val="10000"/>
                <a:lumOff val="90000"/>
              </a:schemeClr>
            </a:solidFill>
            <a:ln>
              <a:noFill/>
            </a:ln>
            <a:effectLst>
              <a:outerShdw blurRad="101600" dist="76200" dir="18900000" algn="b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r>
                <a:rPr lang="en-US" sz="175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Non-Drivers</a:t>
              </a:r>
            </a:p>
            <a:p>
              <a:endPara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endPara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en-US" sz="13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</a:t>
              </a:r>
              <a:r>
                <a:rPr lang="en-US" sz="15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Account Relationshi</a:t>
              </a:r>
              <a:r>
                <a:rPr lang="en-US" sz="13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</a:t>
              </a:r>
            </a:p>
            <a:p>
              <a:r>
                <a:rPr lang="en-US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</a:t>
              </a:r>
            </a:p>
            <a:p>
              <a:r>
                <a:rPr lang="en-US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    Credit Card Ownership</a:t>
              </a:r>
            </a:p>
            <a:p>
              <a:endParaRPr lang="en-US" sz="5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r>
                <a:rPr lang="en-US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    Tenure</a:t>
              </a:r>
            </a:p>
            <a:p>
              <a:endParaRPr lang="en-US" sz="20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r>
                <a:rPr lang="en-US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</a:t>
              </a:r>
              <a:r>
                <a:rPr lang="en-US" sz="15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Financial Profile</a:t>
              </a:r>
            </a:p>
            <a:p>
              <a:r>
                <a:rPr lang="en-US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</a:t>
              </a:r>
            </a:p>
            <a:p>
              <a:r>
                <a:rPr lang="en-US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    Estimated Salary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E989ABE-CCF2-7989-5339-533871597411}"/>
                </a:ext>
              </a:extLst>
            </p:cNvPr>
            <p:cNvCxnSpPr/>
            <p:nvPr/>
          </p:nvCxnSpPr>
          <p:spPr>
            <a:xfrm>
              <a:off x="8507638" y="2455309"/>
              <a:ext cx="2498400" cy="0"/>
            </a:xfrm>
            <a:prstGeom prst="line">
              <a:avLst/>
            </a:prstGeom>
            <a:ln w="3175">
              <a:solidFill>
                <a:schemeClr val="accent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DFA58D1-64FA-FAF0-3EB2-663265A288CE}"/>
                </a:ext>
              </a:extLst>
            </p:cNvPr>
            <p:cNvSpPr/>
            <p:nvPr/>
          </p:nvSpPr>
          <p:spPr>
            <a:xfrm>
              <a:off x="8713448" y="3187308"/>
              <a:ext cx="75600" cy="75600"/>
            </a:xfrm>
            <a:prstGeom prst="ellipse">
              <a:avLst/>
            </a:prstGeom>
            <a:solidFill>
              <a:schemeClr val="accent1">
                <a:lumMod val="50000"/>
                <a:lumOff val="50000"/>
              </a:schemeClr>
            </a:solidFill>
            <a:ln>
              <a:solidFill>
                <a:schemeClr val="accent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8B773EC-7EFA-642E-8D6A-5A557307DEA8}"/>
                </a:ext>
              </a:extLst>
            </p:cNvPr>
            <p:cNvSpPr/>
            <p:nvPr/>
          </p:nvSpPr>
          <p:spPr>
            <a:xfrm>
              <a:off x="8713448" y="3466846"/>
              <a:ext cx="75600" cy="75600"/>
            </a:xfrm>
            <a:prstGeom prst="ellipse">
              <a:avLst/>
            </a:prstGeom>
            <a:solidFill>
              <a:schemeClr val="accent1">
                <a:lumMod val="50000"/>
                <a:lumOff val="50000"/>
              </a:schemeClr>
            </a:solidFill>
            <a:ln>
              <a:solidFill>
                <a:schemeClr val="accent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7052F52-4862-29F8-C55F-CAD01B1A6409}"/>
                </a:ext>
              </a:extLst>
            </p:cNvPr>
            <p:cNvSpPr/>
            <p:nvPr/>
          </p:nvSpPr>
          <p:spPr>
            <a:xfrm>
              <a:off x="8713448" y="4359375"/>
              <a:ext cx="75600" cy="75600"/>
            </a:xfrm>
            <a:prstGeom prst="ellipse">
              <a:avLst/>
            </a:prstGeom>
            <a:solidFill>
              <a:schemeClr val="accent1">
                <a:lumMod val="50000"/>
                <a:lumOff val="50000"/>
              </a:schemeClr>
            </a:solidFill>
            <a:ln>
              <a:solidFill>
                <a:schemeClr val="accent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/>
            </a:p>
          </p:txBody>
        </p:sp>
      </p:grpSp>
    </p:spTree>
    <p:extLst>
      <p:ext uri="{BB962C8B-B14F-4D97-AF65-F5344CB8AC3E}">
        <p14:creationId xmlns:p14="http://schemas.microsoft.com/office/powerpoint/2010/main" val="609654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AC2EB-1187-D769-AF3A-A04A1E8C7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FBCDEB-63FF-5BCF-DB4D-6F790967A524}"/>
              </a:ext>
            </a:extLst>
          </p:cNvPr>
          <p:cNvSpPr txBox="1"/>
          <p:nvPr/>
        </p:nvSpPr>
        <p:spPr>
          <a:xfrm>
            <a:off x="804232" y="561859"/>
            <a:ext cx="8218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Peak Wealth Age Group at Critical Risk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F691370-3D13-83E7-9990-221ABD8B2C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0975709"/>
              </p:ext>
            </p:extLst>
          </p:nvPr>
        </p:nvGraphicFramePr>
        <p:xfrm>
          <a:off x="804233" y="1443210"/>
          <a:ext cx="5291767" cy="48529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EA8BF18-388A-7458-9626-F41C3276BA2E}"/>
              </a:ext>
            </a:extLst>
          </p:cNvPr>
          <p:cNvSpPr/>
          <p:nvPr/>
        </p:nvSpPr>
        <p:spPr>
          <a:xfrm>
            <a:off x="6741160" y="2971800"/>
            <a:ext cx="4165539" cy="947451"/>
          </a:xfrm>
          <a:prstGeom prst="roundRect">
            <a:avLst>
              <a:gd name="adj" fmla="val 773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Generational Loyalty Gap</a:t>
            </a:r>
          </a:p>
          <a:p>
            <a:endParaRPr lang="en-U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While Millennials remain stable, we are failing </a:t>
            </a:r>
          </a:p>
          <a:p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clients during their highest net-worth years.</a:t>
            </a:r>
          </a:p>
          <a:p>
            <a:endParaRPr lang="en-GH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D7357F6-C360-0BAB-9ACF-A9F131E4B4DF}"/>
              </a:ext>
            </a:extLst>
          </p:cNvPr>
          <p:cNvSpPr/>
          <p:nvPr/>
        </p:nvSpPr>
        <p:spPr>
          <a:xfrm>
            <a:off x="6741159" y="4258021"/>
            <a:ext cx="4165540" cy="947451"/>
          </a:xfrm>
          <a:prstGeom prst="roundRect">
            <a:avLst>
              <a:gd name="adj" fmla="val 773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Strategic Vulnerability</a:t>
            </a:r>
          </a:p>
          <a:p>
            <a:endParaRPr lang="en-U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Competitors are likely targeting our mature clients </a:t>
            </a:r>
          </a:p>
          <a:p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with better wealth-preservation offers.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EA90229-2B3F-6141-73EF-05C85151542E}"/>
              </a:ext>
            </a:extLst>
          </p:cNvPr>
          <p:cNvSpPr/>
          <p:nvPr/>
        </p:nvSpPr>
        <p:spPr>
          <a:xfrm>
            <a:off x="6741160" y="1685580"/>
            <a:ext cx="4165539" cy="947451"/>
          </a:xfrm>
          <a:prstGeom prst="roundRect">
            <a:avLst>
              <a:gd name="adj" fmla="val 773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49.5% Churn Rate (Ages 45-60)</a:t>
            </a:r>
          </a:p>
          <a:p>
            <a:endParaRPr lang="en-U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Nearly half of our 'Golden Demographic' leaves </a:t>
            </a:r>
          </a:p>
          <a:p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before retirement.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EDE1CB-F964-9344-631A-3B78AFA8E506}"/>
              </a:ext>
            </a:extLst>
          </p:cNvPr>
          <p:cNvCxnSpPr>
            <a:cxnSpLocks/>
          </p:cNvCxnSpPr>
          <p:nvPr/>
        </p:nvCxnSpPr>
        <p:spPr>
          <a:xfrm flipV="1">
            <a:off x="3106756" y="3919251"/>
            <a:ext cx="0" cy="1359759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B14CCDE-BBB1-5DBA-C87B-F3864EEFA24B}"/>
              </a:ext>
            </a:extLst>
          </p:cNvPr>
          <p:cNvCxnSpPr>
            <a:cxnSpLocks/>
          </p:cNvCxnSpPr>
          <p:nvPr/>
        </p:nvCxnSpPr>
        <p:spPr>
          <a:xfrm flipV="1">
            <a:off x="4206608" y="3572759"/>
            <a:ext cx="0" cy="1706251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0842E04-BD02-FF5A-C598-D39CB6550AB9}"/>
              </a:ext>
            </a:extLst>
          </p:cNvPr>
          <p:cNvCxnSpPr/>
          <p:nvPr/>
        </p:nvCxnSpPr>
        <p:spPr>
          <a:xfrm flipH="1">
            <a:off x="3106756" y="3175819"/>
            <a:ext cx="570509" cy="865239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FEB1307-098B-B36B-F697-DA3E8194C067}"/>
              </a:ext>
            </a:extLst>
          </p:cNvPr>
          <p:cNvCxnSpPr>
            <a:cxnSpLocks/>
          </p:cNvCxnSpPr>
          <p:nvPr/>
        </p:nvCxnSpPr>
        <p:spPr>
          <a:xfrm flipH="1">
            <a:off x="3106755" y="3249050"/>
            <a:ext cx="773514" cy="113122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D9584D6-410D-CA09-D735-A1C14F8C0342}"/>
              </a:ext>
            </a:extLst>
          </p:cNvPr>
          <p:cNvCxnSpPr>
            <a:cxnSpLocks/>
          </p:cNvCxnSpPr>
          <p:nvPr/>
        </p:nvCxnSpPr>
        <p:spPr>
          <a:xfrm flipH="1">
            <a:off x="3099202" y="3362551"/>
            <a:ext cx="955006" cy="1321809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86F0D62-05F8-F9A9-5CDC-39F67FECEF25}"/>
              </a:ext>
            </a:extLst>
          </p:cNvPr>
          <p:cNvCxnSpPr>
            <a:cxnSpLocks/>
          </p:cNvCxnSpPr>
          <p:nvPr/>
        </p:nvCxnSpPr>
        <p:spPr>
          <a:xfrm flipH="1">
            <a:off x="3099203" y="3207682"/>
            <a:ext cx="689297" cy="102018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860481E-6DD6-C542-555A-E8BF328F0066}"/>
              </a:ext>
            </a:extLst>
          </p:cNvPr>
          <p:cNvCxnSpPr>
            <a:cxnSpLocks/>
          </p:cNvCxnSpPr>
          <p:nvPr/>
        </p:nvCxnSpPr>
        <p:spPr>
          <a:xfrm flipH="1">
            <a:off x="3106754" y="3297284"/>
            <a:ext cx="867198" cy="123538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E9B66D9-94EA-6C00-7719-98B11BD079F1}"/>
              </a:ext>
            </a:extLst>
          </p:cNvPr>
          <p:cNvCxnSpPr>
            <a:cxnSpLocks/>
          </p:cNvCxnSpPr>
          <p:nvPr/>
        </p:nvCxnSpPr>
        <p:spPr>
          <a:xfrm flipH="1">
            <a:off x="3106753" y="3452663"/>
            <a:ext cx="1027712" cy="138656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85AD06C-3644-525C-F431-9FECA2F6AE6B}"/>
              </a:ext>
            </a:extLst>
          </p:cNvPr>
          <p:cNvCxnSpPr>
            <a:cxnSpLocks/>
          </p:cNvCxnSpPr>
          <p:nvPr/>
        </p:nvCxnSpPr>
        <p:spPr>
          <a:xfrm flipH="1">
            <a:off x="3114304" y="3547181"/>
            <a:ext cx="1090776" cy="1473083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3458F32-DF06-C906-70D3-82468E8AEA67}"/>
              </a:ext>
            </a:extLst>
          </p:cNvPr>
          <p:cNvCxnSpPr>
            <a:cxnSpLocks/>
          </p:cNvCxnSpPr>
          <p:nvPr/>
        </p:nvCxnSpPr>
        <p:spPr>
          <a:xfrm flipH="1">
            <a:off x="3099950" y="3717776"/>
            <a:ext cx="1105130" cy="1500213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C57D446-210C-69EC-5008-C1C280530A97}"/>
              </a:ext>
            </a:extLst>
          </p:cNvPr>
          <p:cNvCxnSpPr>
            <a:cxnSpLocks/>
          </p:cNvCxnSpPr>
          <p:nvPr/>
        </p:nvCxnSpPr>
        <p:spPr>
          <a:xfrm flipH="1">
            <a:off x="3195924" y="3896478"/>
            <a:ext cx="1018123" cy="138406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B32D652-3AFA-6E48-5EAD-8318D5F33F3C}"/>
              </a:ext>
            </a:extLst>
          </p:cNvPr>
          <p:cNvCxnSpPr>
            <a:cxnSpLocks/>
          </p:cNvCxnSpPr>
          <p:nvPr/>
        </p:nvCxnSpPr>
        <p:spPr>
          <a:xfrm flipH="1">
            <a:off x="3342864" y="4106325"/>
            <a:ext cx="871183" cy="116849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59F4B8F-775C-A041-3786-51F76EDA7078}"/>
              </a:ext>
            </a:extLst>
          </p:cNvPr>
          <p:cNvCxnSpPr>
            <a:cxnSpLocks/>
          </p:cNvCxnSpPr>
          <p:nvPr/>
        </p:nvCxnSpPr>
        <p:spPr>
          <a:xfrm flipH="1">
            <a:off x="3499389" y="4327304"/>
            <a:ext cx="710670" cy="95113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8FDF67B-71F7-B489-B39C-16EFE1672803}"/>
              </a:ext>
            </a:extLst>
          </p:cNvPr>
          <p:cNvCxnSpPr>
            <a:cxnSpLocks/>
          </p:cNvCxnSpPr>
          <p:nvPr/>
        </p:nvCxnSpPr>
        <p:spPr>
          <a:xfrm flipH="1">
            <a:off x="3658745" y="4565667"/>
            <a:ext cx="551988" cy="723103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37783E9-3CCC-8FEF-96A5-2EE2A6723862}"/>
              </a:ext>
            </a:extLst>
          </p:cNvPr>
          <p:cNvCxnSpPr>
            <a:cxnSpLocks/>
          </p:cNvCxnSpPr>
          <p:nvPr/>
        </p:nvCxnSpPr>
        <p:spPr>
          <a:xfrm flipH="1">
            <a:off x="3827714" y="4793040"/>
            <a:ext cx="383019" cy="479203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92155D7-6AD2-3046-BD59-589FCFF05697}"/>
              </a:ext>
            </a:extLst>
          </p:cNvPr>
          <p:cNvCxnSpPr>
            <a:cxnSpLocks/>
          </p:cNvCxnSpPr>
          <p:nvPr/>
        </p:nvCxnSpPr>
        <p:spPr>
          <a:xfrm flipH="1">
            <a:off x="3977238" y="4997463"/>
            <a:ext cx="227842" cy="26299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05747515-D568-0B9E-508D-9E799990D8F4}"/>
              </a:ext>
            </a:extLst>
          </p:cNvPr>
          <p:cNvCxnSpPr/>
          <p:nvPr/>
        </p:nvCxnSpPr>
        <p:spPr>
          <a:xfrm flipV="1">
            <a:off x="3099202" y="3020960"/>
            <a:ext cx="0" cy="2772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9FB9816-ABE3-3CA9-A9D6-C21CC2793F70}"/>
              </a:ext>
            </a:extLst>
          </p:cNvPr>
          <p:cNvCxnSpPr/>
          <p:nvPr/>
        </p:nvCxnSpPr>
        <p:spPr>
          <a:xfrm flipV="1">
            <a:off x="4205080" y="3020960"/>
            <a:ext cx="0" cy="2772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E89FD73-6D05-6866-B0D4-A01720C34F57}"/>
              </a:ext>
            </a:extLst>
          </p:cNvPr>
          <p:cNvCxnSpPr>
            <a:cxnSpLocks/>
          </p:cNvCxnSpPr>
          <p:nvPr/>
        </p:nvCxnSpPr>
        <p:spPr>
          <a:xfrm flipV="1">
            <a:off x="3630036" y="2886628"/>
            <a:ext cx="0" cy="1343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C4D0AA2A-1C29-837E-DA72-6050162D9A7F}"/>
              </a:ext>
            </a:extLst>
          </p:cNvPr>
          <p:cNvSpPr txBox="1"/>
          <p:nvPr/>
        </p:nvSpPr>
        <p:spPr>
          <a:xfrm>
            <a:off x="2727779" y="2476817"/>
            <a:ext cx="1804513" cy="492443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Peak Wealth Years</a:t>
            </a:r>
          </a:p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(45-60)</a:t>
            </a:r>
            <a:endParaRPr lang="en-GH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607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AA7B4-147C-DB5E-1468-206F4F0B3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F9AD4E-BAF7-1845-9493-A9A62847555C}"/>
              </a:ext>
            </a:extLst>
          </p:cNvPr>
          <p:cNvSpPr txBox="1"/>
          <p:nvPr/>
        </p:nvSpPr>
        <p:spPr>
          <a:xfrm>
            <a:off x="804232" y="561859"/>
            <a:ext cx="1034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Gender Disparity and Inactivity Accelerate Churn</a:t>
            </a:r>
          </a:p>
        </p:txBody>
      </p:sp>
      <p:sp>
        <p:nvSpPr>
          <p:cNvPr id="3" name="TextBox 39">
            <a:extLst>
              <a:ext uri="{FF2B5EF4-FFF2-40B4-BE49-F238E27FC236}">
                <a16:creationId xmlns:a16="http://schemas.microsoft.com/office/drawing/2014/main" id="{C2816A66-E9F7-42AC-788C-27DACE3BC84B}"/>
              </a:ext>
            </a:extLst>
          </p:cNvPr>
          <p:cNvSpPr txBox="1"/>
          <p:nvPr/>
        </p:nvSpPr>
        <p:spPr>
          <a:xfrm>
            <a:off x="837282" y="1522673"/>
            <a:ext cx="4957794" cy="819377"/>
          </a:xfrm>
          <a:prstGeom prst="rect">
            <a:avLst/>
          </a:prstGeom>
          <a:solidFill>
            <a:sysClr val="window" lastClr="FFFFFF"/>
          </a:solidFill>
          <a:ln w="9525" cmpd="sng">
            <a:noFill/>
          </a:ln>
          <a:effectLst/>
        </p:spPr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Female Customers Show Higher Churn Compared to Males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Churn Rate by gender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H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098ED28-B9D8-DB57-5911-8F19FC2D83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711325"/>
              </p:ext>
            </p:extLst>
          </p:nvPr>
        </p:nvGraphicFramePr>
        <p:xfrm>
          <a:off x="837282" y="2320016"/>
          <a:ext cx="2520326" cy="2196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F7AE074-5B03-BA85-1DCA-59DD03173E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7953724"/>
              </p:ext>
            </p:extLst>
          </p:nvPr>
        </p:nvGraphicFramePr>
        <p:xfrm>
          <a:off x="3274750" y="2320016"/>
          <a:ext cx="2520326" cy="2196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4C64690-8A8D-4246-B141-5868E698F2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2134300"/>
              </p:ext>
            </p:extLst>
          </p:nvPr>
        </p:nvGraphicFramePr>
        <p:xfrm>
          <a:off x="6161458" y="1388815"/>
          <a:ext cx="4760570" cy="323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8B2769-FDD4-D657-0139-2B08F9D34AF2}"/>
              </a:ext>
            </a:extLst>
          </p:cNvPr>
          <p:cNvCxnSpPr>
            <a:cxnSpLocks/>
          </p:cNvCxnSpPr>
          <p:nvPr/>
        </p:nvCxnSpPr>
        <p:spPr>
          <a:xfrm>
            <a:off x="6096000" y="1582408"/>
            <a:ext cx="0" cy="303916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E604560-25CF-19B7-5C08-601D16EFC105}"/>
              </a:ext>
            </a:extLst>
          </p:cNvPr>
          <p:cNvSpPr/>
          <p:nvPr/>
        </p:nvSpPr>
        <p:spPr>
          <a:xfrm>
            <a:off x="1184979" y="4971341"/>
            <a:ext cx="4262400" cy="1324800"/>
          </a:xfrm>
          <a:prstGeom prst="roundRect">
            <a:avLst>
              <a:gd name="adj" fmla="val 615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Engagement Gap for Female Clients</a:t>
            </a:r>
          </a:p>
          <a:p>
            <a:endParaRPr lang="en-U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Analysis signal a critical "service gap" where current retention offerings may not align with the specific financial priorities or engagement styles of this demographic.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551B04A-CF76-E4C8-C6ED-737CB14DED04}"/>
              </a:ext>
            </a:extLst>
          </p:cNvPr>
          <p:cNvSpPr/>
          <p:nvPr/>
        </p:nvSpPr>
        <p:spPr>
          <a:xfrm>
            <a:off x="6744623" y="4971341"/>
            <a:ext cx="4262400" cy="1324800"/>
          </a:xfrm>
          <a:prstGeom prst="roundRect">
            <a:avLst>
              <a:gd name="adj" fmla="val 615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Dormant Value Before Exit</a:t>
            </a:r>
          </a:p>
          <a:p>
            <a:endParaRPr lang="en-U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Customer inactivity is an "early warning" signal. Dormancy is a direct precursor to total balance exit, representing a </a:t>
            </a: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compounding loss of future lifetime value</a:t>
            </a: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0606C0-A10C-32BF-122C-1B92B8D2E8EB}"/>
              </a:ext>
            </a:extLst>
          </p:cNvPr>
          <p:cNvSpPr txBox="1"/>
          <p:nvPr/>
        </p:nvSpPr>
        <p:spPr>
          <a:xfrm>
            <a:off x="1763651" y="4374037"/>
            <a:ext cx="7164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Female</a:t>
            </a:r>
            <a:endParaRPr lang="en-GH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06FFE1-81BC-58D9-A693-77943C22ADFE}"/>
              </a:ext>
            </a:extLst>
          </p:cNvPr>
          <p:cNvSpPr txBox="1"/>
          <p:nvPr/>
        </p:nvSpPr>
        <p:spPr>
          <a:xfrm>
            <a:off x="4283977" y="4385146"/>
            <a:ext cx="5425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Male</a:t>
            </a:r>
            <a:endParaRPr lang="en-GH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216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647AD-D2A4-4CCD-E446-7982CE970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8D54A7-A0B7-9538-DB4C-A5E7236AB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9638" y="2031722"/>
            <a:ext cx="1940400" cy="9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B8A398-BE89-C20C-6778-68CD6115A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263" y="3822269"/>
            <a:ext cx="1945544" cy="982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F114BF-AE5F-C434-5663-40FD6EDDF77E}"/>
              </a:ext>
            </a:extLst>
          </p:cNvPr>
          <p:cNvSpPr txBox="1"/>
          <p:nvPr/>
        </p:nvSpPr>
        <p:spPr>
          <a:xfrm>
            <a:off x="804232" y="561859"/>
            <a:ext cx="8218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Germany: A Concentration of Risk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CE4593-0B02-9359-669C-DB477DD4C1C2}"/>
              </a:ext>
            </a:extLst>
          </p:cNvPr>
          <p:cNvSpPr/>
          <p:nvPr/>
        </p:nvSpPr>
        <p:spPr>
          <a:xfrm>
            <a:off x="1263729" y="5162629"/>
            <a:ext cx="9940425" cy="1155662"/>
          </a:xfrm>
          <a:prstGeom prst="roundRect">
            <a:avLst>
              <a:gd name="adj" fmla="val 7738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German Market Disruption</a:t>
            </a:r>
          </a:p>
          <a:p>
            <a:endParaRPr lang="en-U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Churn Rate is double that of France or Spain.</a:t>
            </a:r>
          </a:p>
          <a:p>
            <a:pPr lvl="1"/>
            <a:endParaRPr lang="en-US" sz="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Over $98M capital loss (1/3 of total deposits) in the analyzed period.</a:t>
            </a:r>
          </a:p>
          <a:p>
            <a:pPr lvl="1"/>
            <a:endParaRPr lang="en-US" sz="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Indicates local competitive pressure or  regional service quality dissatisfaction.</a:t>
            </a:r>
          </a:p>
          <a:p>
            <a:pPr lvl="1"/>
            <a:endParaRPr lang="en-US" sz="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595846-545A-103E-26DA-2540D9A50441}"/>
              </a:ext>
            </a:extLst>
          </p:cNvPr>
          <p:cNvSpPr txBox="1"/>
          <p:nvPr/>
        </p:nvSpPr>
        <p:spPr>
          <a:xfrm>
            <a:off x="7951138" y="1282689"/>
            <a:ext cx="2462668" cy="32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/>
              <a:t>Churn Rate Matrices</a:t>
            </a:r>
            <a:endParaRPr lang="en-GH" sz="1500" b="1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D97DD4B-1780-9F2B-11E6-E345F3F47F23}"/>
              </a:ext>
            </a:extLst>
          </p:cNvPr>
          <p:cNvGrpSpPr/>
          <p:nvPr/>
        </p:nvGrpSpPr>
        <p:grpSpPr>
          <a:xfrm>
            <a:off x="7749827" y="1797339"/>
            <a:ext cx="2663979" cy="1526920"/>
            <a:chOff x="7569873" y="1904163"/>
            <a:chExt cx="2841064" cy="206319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46D6427-03EF-BACC-94BC-E413D1E1BDCB}"/>
                </a:ext>
              </a:extLst>
            </p:cNvPr>
            <p:cNvSpPr txBox="1"/>
            <p:nvPr/>
          </p:nvSpPr>
          <p:spPr>
            <a:xfrm>
              <a:off x="8430213" y="1904163"/>
              <a:ext cx="1870522" cy="3219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Country vs Gender</a:t>
              </a:r>
              <a:endParaRPr lang="en-GH" sz="1200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0611DE0-9890-2DFA-8A1C-ED1BA62A44CE}"/>
                </a:ext>
              </a:extLst>
            </p:cNvPr>
            <p:cNvSpPr txBox="1"/>
            <p:nvPr/>
          </p:nvSpPr>
          <p:spPr>
            <a:xfrm>
              <a:off x="7870516" y="2324697"/>
              <a:ext cx="90546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France</a:t>
              </a:r>
              <a:endParaRPr lang="en-GH" sz="9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2BB651E-8D02-ADDF-144F-85A91F2ABAA6}"/>
                </a:ext>
              </a:extLst>
            </p:cNvPr>
            <p:cNvSpPr txBox="1"/>
            <p:nvPr/>
          </p:nvSpPr>
          <p:spPr>
            <a:xfrm>
              <a:off x="8600001" y="3543982"/>
              <a:ext cx="1810936" cy="268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Female	    Male</a:t>
              </a:r>
              <a:endParaRPr lang="en-GH" sz="9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F6DD244-D4C5-B561-D52F-41053197C210}"/>
                </a:ext>
              </a:extLst>
            </p:cNvPr>
            <p:cNvSpPr txBox="1"/>
            <p:nvPr/>
          </p:nvSpPr>
          <p:spPr>
            <a:xfrm>
              <a:off x="7720468" y="2751955"/>
              <a:ext cx="90546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 Germany</a:t>
              </a:r>
              <a:endParaRPr lang="en-GH" sz="9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7ED5D87-EC7C-7375-C729-E07BE256637C}"/>
                </a:ext>
              </a:extLst>
            </p:cNvPr>
            <p:cNvSpPr txBox="1"/>
            <p:nvPr/>
          </p:nvSpPr>
          <p:spPr>
            <a:xfrm>
              <a:off x="7936618" y="3179213"/>
              <a:ext cx="90546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Spain</a:t>
              </a:r>
              <a:endParaRPr lang="en-GH" sz="9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43B7D21-EC64-2966-79E0-18333ADD6917}"/>
                </a:ext>
              </a:extLst>
            </p:cNvPr>
            <p:cNvSpPr txBox="1"/>
            <p:nvPr/>
          </p:nvSpPr>
          <p:spPr>
            <a:xfrm rot="16200000">
              <a:off x="7232555" y="2751955"/>
              <a:ext cx="90546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/>
                <a:t>Country</a:t>
              </a:r>
              <a:endParaRPr lang="en-GH" sz="900" b="1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93FB53A-D4FE-BB8B-0D9F-F840E6DA4F3B}"/>
                </a:ext>
              </a:extLst>
            </p:cNvPr>
            <p:cNvSpPr txBox="1"/>
            <p:nvPr/>
          </p:nvSpPr>
          <p:spPr>
            <a:xfrm>
              <a:off x="9077899" y="3736523"/>
              <a:ext cx="905468" cy="23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 </a:t>
              </a:r>
              <a:r>
                <a:rPr lang="en-US" sz="900" b="1" dirty="0"/>
                <a:t>Gender</a:t>
              </a:r>
              <a:endParaRPr lang="en-GH" sz="900" b="1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6CAE365-C258-15B6-9A7A-D9F57102BD4B}"/>
              </a:ext>
            </a:extLst>
          </p:cNvPr>
          <p:cNvGrpSpPr/>
          <p:nvPr/>
        </p:nvGrpSpPr>
        <p:grpSpPr>
          <a:xfrm>
            <a:off x="7724187" y="3577331"/>
            <a:ext cx="2769968" cy="1630876"/>
            <a:chOff x="7850294" y="2939468"/>
            <a:chExt cx="2769968" cy="189620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D87AB-6F12-CEC8-4061-E917AF083FA4}"/>
                </a:ext>
              </a:extLst>
            </p:cNvPr>
            <p:cNvSpPr txBox="1"/>
            <p:nvPr/>
          </p:nvSpPr>
          <p:spPr>
            <a:xfrm>
              <a:off x="8760556" y="4351323"/>
              <a:ext cx="1859706" cy="268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  Inactive	      Active</a:t>
              </a:r>
              <a:endParaRPr lang="en-GH" sz="900" dirty="0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E5CA16F-068C-4767-9D7C-506009441A01}"/>
                </a:ext>
              </a:extLst>
            </p:cNvPr>
            <p:cNvGrpSpPr/>
            <p:nvPr/>
          </p:nvGrpSpPr>
          <p:grpSpPr>
            <a:xfrm>
              <a:off x="7850294" y="2939468"/>
              <a:ext cx="2769968" cy="1896207"/>
              <a:chOff x="7850293" y="2937061"/>
              <a:chExt cx="3026495" cy="2220486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10E7A70-824B-81F8-BAB2-9F3B45AD320D}"/>
                  </a:ext>
                </a:extLst>
              </p:cNvPr>
              <p:cNvSpPr txBox="1"/>
              <p:nvPr/>
            </p:nvSpPr>
            <p:spPr>
              <a:xfrm>
                <a:off x="8587638" y="2937061"/>
                <a:ext cx="2289150" cy="3243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Country vs Activity Status</a:t>
                </a:r>
                <a:endParaRPr lang="en-GH" sz="1200" b="1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1E83BE1-2DBA-3875-346B-B8CE8BFD6892}"/>
                  </a:ext>
                </a:extLst>
              </p:cNvPr>
              <p:cNvSpPr txBox="1"/>
              <p:nvPr/>
            </p:nvSpPr>
            <p:spPr>
              <a:xfrm>
                <a:off x="8159032" y="3384265"/>
                <a:ext cx="929853" cy="2097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/>
                  <a:t>France</a:t>
                </a:r>
                <a:endParaRPr lang="en-GH" sz="900" dirty="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9757BD3-1C46-A191-A4A5-A8C611700588}"/>
                  </a:ext>
                </a:extLst>
              </p:cNvPr>
              <p:cNvSpPr txBox="1"/>
              <p:nvPr/>
            </p:nvSpPr>
            <p:spPr>
              <a:xfrm>
                <a:off x="8004943" y="3816623"/>
                <a:ext cx="929853" cy="2097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/>
                  <a:t> Germany</a:t>
                </a:r>
                <a:endParaRPr lang="en-GH" sz="900" dirty="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121125E-C541-FE3E-474F-E5175D65AF52}"/>
                  </a:ext>
                </a:extLst>
              </p:cNvPr>
              <p:cNvSpPr txBox="1"/>
              <p:nvPr/>
            </p:nvSpPr>
            <p:spPr>
              <a:xfrm>
                <a:off x="8226914" y="4259998"/>
                <a:ext cx="929853" cy="2097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/>
                  <a:t>Spain</a:t>
                </a:r>
                <a:endParaRPr lang="en-GH" sz="900" dirty="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8F4A0B9-EA53-6537-9BFE-26F2997EA5FE}"/>
                  </a:ext>
                </a:extLst>
              </p:cNvPr>
              <p:cNvSpPr txBox="1"/>
              <p:nvPr/>
            </p:nvSpPr>
            <p:spPr>
              <a:xfrm rot="16200000">
                <a:off x="7557374" y="3769937"/>
                <a:ext cx="822885" cy="237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 dirty="0"/>
                  <a:t>Country</a:t>
                </a:r>
                <a:endParaRPr lang="en-GH" sz="900" b="1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B833D3C-EA8E-E450-67D9-469C857DD399}"/>
                  </a:ext>
                </a:extLst>
              </p:cNvPr>
              <p:cNvSpPr txBox="1"/>
              <p:nvPr/>
            </p:nvSpPr>
            <p:spPr>
              <a:xfrm>
                <a:off x="9233271" y="4834968"/>
                <a:ext cx="1307699" cy="3225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b="1" dirty="0"/>
                  <a:t>Activity Status</a:t>
                </a:r>
                <a:endParaRPr lang="en-GH" sz="900" b="1" dirty="0"/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A424714-EDAD-176F-58B5-D609F8E4CED8}"/>
              </a:ext>
            </a:extLst>
          </p:cNvPr>
          <p:cNvGrpSpPr/>
          <p:nvPr/>
        </p:nvGrpSpPr>
        <p:grpSpPr>
          <a:xfrm>
            <a:off x="1286344" y="1286242"/>
            <a:ext cx="5638637" cy="911366"/>
            <a:chOff x="0" y="80465"/>
            <a:chExt cx="4126517" cy="1451099"/>
          </a:xfrm>
        </p:grpSpPr>
        <p:sp>
          <p:nvSpPr>
            <p:cNvPr id="45" name="TextBox 18">
              <a:extLst>
                <a:ext uri="{FF2B5EF4-FFF2-40B4-BE49-F238E27FC236}">
                  <a16:creationId xmlns:a16="http://schemas.microsoft.com/office/drawing/2014/main" id="{C8D8E803-7916-480B-AB3D-3DDF4E71C916}"/>
                </a:ext>
              </a:extLst>
            </p:cNvPr>
            <p:cNvSpPr txBox="1"/>
            <p:nvPr/>
          </p:nvSpPr>
          <p:spPr>
            <a:xfrm>
              <a:off x="0" y="80465"/>
              <a:ext cx="4126517" cy="1228955"/>
            </a:xfrm>
            <a:prstGeom prst="rect">
              <a:avLst/>
            </a:prstGeom>
            <a:solidFill>
              <a:sysClr val="window" lastClr="FFFFFF"/>
            </a:solidFill>
            <a:ln w="9525" cmpd="sng">
              <a:noFill/>
            </a:ln>
            <a:effectLst/>
          </p:spPr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rPr>
                <a:t>High-Risk Attrition in Germany Despite Smaller Customer Base</a:t>
              </a: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rPr>
                <a:t>Churn Rate and Customer Volume 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Across 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rPr>
                <a:t>European Markets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H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67AFACB-DC02-3762-26C9-3A8441D0DE54}"/>
                </a:ext>
              </a:extLst>
            </p:cNvPr>
            <p:cNvSpPr/>
            <p:nvPr/>
          </p:nvSpPr>
          <p:spPr>
            <a:xfrm>
              <a:off x="277973" y="1341368"/>
              <a:ext cx="117043" cy="95097"/>
            </a:xfrm>
            <a:prstGeom prst="rect">
              <a:avLst/>
            </a:prstGeom>
            <a:solidFill>
              <a:srgbClr val="1A6C7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H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72F93E7-2BA1-36E5-F424-474829DFD440}"/>
                </a:ext>
              </a:extLst>
            </p:cNvPr>
            <p:cNvSpPr/>
            <p:nvPr/>
          </p:nvSpPr>
          <p:spPr>
            <a:xfrm>
              <a:off x="2229917" y="1354780"/>
              <a:ext cx="117043" cy="95097"/>
            </a:xfrm>
            <a:prstGeom prst="rect">
              <a:avLst/>
            </a:prstGeom>
            <a:solidFill>
              <a:srgbClr val="ED7D3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H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TextBox 21">
              <a:extLst>
                <a:ext uri="{FF2B5EF4-FFF2-40B4-BE49-F238E27FC236}">
                  <a16:creationId xmlns:a16="http://schemas.microsoft.com/office/drawing/2014/main" id="{6FE61EDD-8E85-975A-7D64-D071D936E784}"/>
                </a:ext>
              </a:extLst>
            </p:cNvPr>
            <p:cNvSpPr txBox="1"/>
            <p:nvPr/>
          </p:nvSpPr>
          <p:spPr>
            <a:xfrm>
              <a:off x="358441" y="1277356"/>
              <a:ext cx="1638605" cy="232261"/>
            </a:xfrm>
            <a:prstGeom prst="rect">
              <a:avLst/>
            </a:prstGeom>
            <a:solidFill>
              <a:sysClr val="window" lastClr="FFFFFF"/>
            </a:solidFill>
            <a:ln w="9525" cmpd="sng">
              <a:noFill/>
            </a:ln>
            <a:effectLst/>
          </p:spPr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Retained Customers</a:t>
              </a:r>
              <a:endParaRPr kumimoji="0" lang="en-GH" sz="1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TextBox 22">
              <a:extLst>
                <a:ext uri="{FF2B5EF4-FFF2-40B4-BE49-F238E27FC236}">
                  <a16:creationId xmlns:a16="http://schemas.microsoft.com/office/drawing/2014/main" id="{D8DA0033-9159-ED98-C29E-402C3D1FD3D0}"/>
                </a:ext>
              </a:extLst>
            </p:cNvPr>
            <p:cNvSpPr txBox="1"/>
            <p:nvPr/>
          </p:nvSpPr>
          <p:spPr>
            <a:xfrm>
              <a:off x="2325014" y="1283454"/>
              <a:ext cx="1515466" cy="248110"/>
            </a:xfrm>
            <a:prstGeom prst="rect">
              <a:avLst/>
            </a:prstGeom>
            <a:solidFill>
              <a:sysClr val="window" lastClr="FFFFFF"/>
            </a:solidFill>
            <a:ln w="9525" cmpd="sng">
              <a:noFill/>
            </a:ln>
            <a:effectLst/>
          </p:spPr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Churned Customers</a:t>
              </a:r>
              <a:endParaRPr kumimoji="0" lang="en-GH" sz="1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pic>
        <p:nvPicPr>
          <p:cNvPr id="57" name="Picture 56">
            <a:extLst>
              <a:ext uri="{FF2B5EF4-FFF2-40B4-BE49-F238E27FC236}">
                <a16:creationId xmlns:a16="http://schemas.microsoft.com/office/drawing/2014/main" id="{7F56558F-F0EA-3E25-DC12-0792A26AA1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7"/>
          <a:stretch>
            <a:fillRect/>
          </a:stretch>
        </p:blipFill>
        <p:spPr>
          <a:xfrm>
            <a:off x="1263729" y="2271393"/>
            <a:ext cx="5515086" cy="2680792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40179175-D4C4-A2A5-9358-F2ED1310D7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8022" y="3533745"/>
            <a:ext cx="287452" cy="287452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741BEA21-3D16-72D3-EAFB-51692759D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37269" y="1740174"/>
            <a:ext cx="288403" cy="288403"/>
          </a:xfrm>
          <a:prstGeom prst="rect">
            <a:avLst/>
          </a:prstGeom>
        </p:spPr>
      </p:pic>
      <p:sp>
        <p:nvSpPr>
          <p:cNvPr id="74" name="Flowchart: Connector 73">
            <a:extLst>
              <a:ext uri="{FF2B5EF4-FFF2-40B4-BE49-F238E27FC236}">
                <a16:creationId xmlns:a16="http://schemas.microsoft.com/office/drawing/2014/main" id="{94B95775-17BD-2286-F099-689C96D8EAC5}"/>
              </a:ext>
            </a:extLst>
          </p:cNvPr>
          <p:cNvSpPr/>
          <p:nvPr/>
        </p:nvSpPr>
        <p:spPr>
          <a:xfrm>
            <a:off x="8560231" y="2359288"/>
            <a:ext cx="829829" cy="311174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sp>
        <p:nvSpPr>
          <p:cNvPr id="75" name="Flowchart: Connector 74">
            <a:extLst>
              <a:ext uri="{FF2B5EF4-FFF2-40B4-BE49-F238E27FC236}">
                <a16:creationId xmlns:a16="http://schemas.microsoft.com/office/drawing/2014/main" id="{9D828221-0E99-8DE6-0784-CD9C292EACEE}"/>
              </a:ext>
            </a:extLst>
          </p:cNvPr>
          <p:cNvSpPr/>
          <p:nvPr/>
        </p:nvSpPr>
        <p:spPr>
          <a:xfrm>
            <a:off x="8545525" y="4140833"/>
            <a:ext cx="829829" cy="311174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EB1997E-9D5F-DE6F-CB8E-881FF5A40649}"/>
              </a:ext>
            </a:extLst>
          </p:cNvPr>
          <p:cNvCxnSpPr>
            <a:cxnSpLocks/>
          </p:cNvCxnSpPr>
          <p:nvPr/>
        </p:nvCxnSpPr>
        <p:spPr>
          <a:xfrm flipV="1">
            <a:off x="5453349" y="2613340"/>
            <a:ext cx="3206742" cy="513965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8A3F1CC-5253-D41B-05DE-7B7C310F0C6F}"/>
              </a:ext>
            </a:extLst>
          </p:cNvPr>
          <p:cNvCxnSpPr>
            <a:cxnSpLocks/>
          </p:cNvCxnSpPr>
          <p:nvPr/>
        </p:nvCxnSpPr>
        <p:spPr>
          <a:xfrm>
            <a:off x="5464366" y="3130032"/>
            <a:ext cx="3103193" cy="114435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7955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F00FA-DB29-6CE0-A125-9D695B5DE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6FBC6-CE9E-29A0-4042-D0576C0FD58F}"/>
              </a:ext>
            </a:extLst>
          </p:cNvPr>
          <p:cNvSpPr txBox="1"/>
          <p:nvPr/>
        </p:nvSpPr>
        <p:spPr>
          <a:xfrm>
            <a:off x="678731" y="561859"/>
            <a:ext cx="10869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The 1-Product Vulnerability:  A High-Volume Exodus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DF1D91E-9722-456B-AB0B-989336A71D06}"/>
              </a:ext>
            </a:extLst>
          </p:cNvPr>
          <p:cNvGrpSpPr/>
          <p:nvPr/>
        </p:nvGrpSpPr>
        <p:grpSpPr>
          <a:xfrm>
            <a:off x="11017" y="1411721"/>
            <a:ext cx="7358104" cy="4687092"/>
            <a:chOff x="0" y="0"/>
            <a:chExt cx="5498483" cy="3295498"/>
          </a:xfrm>
        </p:grpSpPr>
        <p:graphicFrame>
          <p:nvGraphicFramePr>
            <p:cNvPr id="4" name="Chart 3">
              <a:extLst>
                <a:ext uri="{FF2B5EF4-FFF2-40B4-BE49-F238E27FC236}">
                  <a16:creationId xmlns:a16="http://schemas.microsoft.com/office/drawing/2014/main" id="{E9BCA4DE-D4D9-AC7B-4E1C-77D417E6D5B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129403978"/>
                </p:ext>
              </p:extLst>
            </p:nvPr>
          </p:nvGraphicFramePr>
          <p:xfrm>
            <a:off x="0" y="0"/>
            <a:ext cx="5498483" cy="32954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19100FC-F66D-0C60-90CF-4297240FAB02}"/>
                </a:ext>
              </a:extLst>
            </p:cNvPr>
            <p:cNvSpPr/>
            <p:nvPr/>
          </p:nvSpPr>
          <p:spPr>
            <a:xfrm>
              <a:off x="14634" y="625449"/>
              <a:ext cx="329184" cy="236281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H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67D5F96-7219-0192-1272-FA8C9EA5A4AB}"/>
                </a:ext>
              </a:extLst>
            </p:cNvPr>
            <p:cNvSpPr/>
            <p:nvPr/>
          </p:nvSpPr>
          <p:spPr>
            <a:xfrm>
              <a:off x="5112108" y="638861"/>
              <a:ext cx="329184" cy="234939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H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4FD39C-CC75-F746-7B8D-0B5EC07763E8}"/>
              </a:ext>
            </a:extLst>
          </p:cNvPr>
          <p:cNvSpPr/>
          <p:nvPr/>
        </p:nvSpPr>
        <p:spPr>
          <a:xfrm>
            <a:off x="7281570" y="4054385"/>
            <a:ext cx="4021735" cy="1391894"/>
          </a:xfrm>
          <a:prstGeom prst="roundRect">
            <a:avLst>
              <a:gd name="adj" fmla="val 615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3 &amp; 4-Product Segment</a:t>
            </a:r>
          </a:p>
          <a:p>
            <a:endParaRPr lang="en-U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While churn rates are alarmingly high, these groups  </a:t>
            </a:r>
          </a:p>
          <a:p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represent only 3.26% (326) of our customer base, </a:t>
            </a:r>
          </a:p>
          <a:p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making them less significant to the bottom line.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EDB31F-CB5E-6410-8562-9F99BD4EAF0F}"/>
              </a:ext>
            </a:extLst>
          </p:cNvPr>
          <p:cNvSpPr/>
          <p:nvPr/>
        </p:nvSpPr>
        <p:spPr>
          <a:xfrm>
            <a:off x="7281571" y="1961002"/>
            <a:ext cx="4021735" cy="1656406"/>
          </a:xfrm>
          <a:prstGeom prst="roundRect">
            <a:avLst>
              <a:gd name="adj" fmla="val 493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1-Product Segment</a:t>
            </a:r>
          </a:p>
          <a:p>
            <a:endParaRPr lang="en-U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Most significant loss in nominal value, </a:t>
            </a:r>
          </a:p>
          <a:p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representing the bulk of our customer flight (1,409).</a:t>
            </a:r>
          </a:p>
          <a:p>
            <a:endParaRPr lang="en-U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Our largest exposed risk category with 5,084 total </a:t>
            </a:r>
          </a:p>
          <a:p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customers.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135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A78A0-BFAA-3AE1-C239-4B75D6B25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665EEE-395A-3AE0-7A4E-65BC1B2581DB}"/>
              </a:ext>
            </a:extLst>
          </p:cNvPr>
          <p:cNvSpPr txBox="1"/>
          <p:nvPr/>
        </p:nvSpPr>
        <p:spPr>
          <a:xfrm>
            <a:off x="804231" y="561859"/>
            <a:ext cx="10080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We are Losing our Wealthiest Clients 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1DD397A-AC6E-8422-A3AE-92B6E57AFDCA}"/>
              </a:ext>
            </a:extLst>
          </p:cNvPr>
          <p:cNvGrpSpPr/>
          <p:nvPr/>
        </p:nvGrpSpPr>
        <p:grpSpPr>
          <a:xfrm>
            <a:off x="6446639" y="2992026"/>
            <a:ext cx="4448934" cy="1024569"/>
            <a:chOff x="1388573" y="3087477"/>
            <a:chExt cx="4902059" cy="1233889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09C4CC1-899A-5DA8-CCA3-3B89F5DCB94C}"/>
                </a:ext>
              </a:extLst>
            </p:cNvPr>
            <p:cNvSpPr/>
            <p:nvPr/>
          </p:nvSpPr>
          <p:spPr>
            <a:xfrm>
              <a:off x="1663547" y="3087477"/>
              <a:ext cx="4627085" cy="1233889"/>
            </a:xfrm>
            <a:prstGeom prst="roundRect">
              <a:avLst>
                <a:gd name="adj" fmla="val 7738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</a:t>
              </a:r>
            </a:p>
            <a:p>
              <a:r>
                <a:rPr 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  Adverse Selection Pattern</a:t>
              </a:r>
            </a:p>
            <a:p>
              <a:endParaRPr lang="en-US" sz="8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   </a:t>
              </a:r>
              <a:r>
                <a:rPr lang="en-US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The bank is losing its most liquid assets </a:t>
              </a:r>
            </a:p>
            <a:p>
              <a:r>
                <a:rPr lang="en-US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    while retaining lower-balance accounts.</a:t>
              </a:r>
            </a:p>
            <a:p>
              <a:endParaRPr lang="en-GH" sz="14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9A0F6FB0-1967-1DA7-E668-D573490810F8}"/>
                </a:ext>
              </a:extLst>
            </p:cNvPr>
            <p:cNvSpPr/>
            <p:nvPr/>
          </p:nvSpPr>
          <p:spPr>
            <a:xfrm>
              <a:off x="1400058" y="3422012"/>
              <a:ext cx="594000" cy="583200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AE8D5BE3-DF69-DF26-FA92-F99EEECA26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8573" y="3417229"/>
              <a:ext cx="583200" cy="5832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A504B21-B8D0-1EA3-FD45-F0FC350B7720}"/>
              </a:ext>
            </a:extLst>
          </p:cNvPr>
          <p:cNvGrpSpPr/>
          <p:nvPr/>
        </p:nvGrpSpPr>
        <p:grpSpPr>
          <a:xfrm>
            <a:off x="6446638" y="4309488"/>
            <a:ext cx="4438511" cy="1024569"/>
            <a:chOff x="1400058" y="4654627"/>
            <a:chExt cx="4890574" cy="123388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4974599-2891-3044-D611-5A24D27CD394}"/>
                </a:ext>
              </a:extLst>
            </p:cNvPr>
            <p:cNvSpPr/>
            <p:nvPr/>
          </p:nvSpPr>
          <p:spPr>
            <a:xfrm>
              <a:off x="1663547" y="4654627"/>
              <a:ext cx="4627085" cy="1233889"/>
            </a:xfrm>
            <a:prstGeom prst="roundRect">
              <a:avLst>
                <a:gd name="adj" fmla="val 7738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  Asset Management Impact</a:t>
              </a:r>
            </a:p>
            <a:p>
              <a:endParaRPr lang="en-US" sz="10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r>
                <a:rPr lang="en-US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     This outflow directly impairs our ability to fund </a:t>
              </a:r>
            </a:p>
            <a:p>
              <a:r>
                <a:rPr lang="en-US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     competitive lending and mortgage products.</a:t>
              </a:r>
              <a:endParaRPr lang="en-GH" sz="13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64772C23-A345-84FD-256C-1E9643D3429B}"/>
                </a:ext>
              </a:extLst>
            </p:cNvPr>
            <p:cNvSpPr/>
            <p:nvPr/>
          </p:nvSpPr>
          <p:spPr>
            <a:xfrm>
              <a:off x="1400058" y="4983580"/>
              <a:ext cx="594000" cy="583200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3FFFD505-91C8-713C-6612-626962800C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63355" y="5202534"/>
              <a:ext cx="400384" cy="400384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A55A1F9C-C003-5410-2840-B153E02DED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73024" y="5062269"/>
              <a:ext cx="241482" cy="241482"/>
            </a:xfrm>
            <a:prstGeom prst="rect">
              <a:avLst/>
            </a:prstGeom>
          </p:spPr>
        </p:pic>
      </p:grp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2D3B7E92-6444-396C-F468-178FDEAFCE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2450747"/>
              </p:ext>
            </p:extLst>
          </p:nvPr>
        </p:nvGraphicFramePr>
        <p:xfrm>
          <a:off x="914400" y="1379191"/>
          <a:ext cx="4773517" cy="4368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5BC734B4-0E03-2B3C-E14F-F364BD1FCF22}"/>
              </a:ext>
            </a:extLst>
          </p:cNvPr>
          <p:cNvGrpSpPr/>
          <p:nvPr/>
        </p:nvGrpSpPr>
        <p:grpSpPr>
          <a:xfrm>
            <a:off x="6449459" y="1674564"/>
            <a:ext cx="4446224" cy="1024569"/>
            <a:chOff x="6221537" y="1542362"/>
            <a:chExt cx="4899073" cy="123388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302BC97-D36F-E4DC-6CCB-8A2A849EF281}"/>
                </a:ext>
              </a:extLst>
            </p:cNvPr>
            <p:cNvSpPr/>
            <p:nvPr/>
          </p:nvSpPr>
          <p:spPr>
            <a:xfrm>
              <a:off x="6493525" y="1542362"/>
              <a:ext cx="4627085" cy="1233889"/>
            </a:xfrm>
            <a:prstGeom prst="roundRect">
              <a:avLst>
                <a:gd name="adj" fmla="val 7738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 </a:t>
              </a:r>
              <a:r>
                <a:rPr 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25% Higher Balance in Churners</a:t>
              </a:r>
            </a:p>
            <a:p>
              <a:endParaRPr lang="en-US" sz="8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   </a:t>
              </a:r>
              <a:r>
                <a:rPr lang="en-US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Departing clients have a higher average balance </a:t>
              </a:r>
            </a:p>
            <a:p>
              <a:r>
                <a:rPr lang="en-US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    than those staying.</a:t>
              </a:r>
              <a:endParaRPr lang="en-GH" sz="13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CA7C5399-C3AA-F08B-D961-D0285EA18C88}"/>
                </a:ext>
              </a:extLst>
            </p:cNvPr>
            <p:cNvSpPr/>
            <p:nvPr/>
          </p:nvSpPr>
          <p:spPr>
            <a:xfrm>
              <a:off x="6221537" y="1895093"/>
              <a:ext cx="594011" cy="584775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3FBD7CD-BE00-4B86-B720-5FBD954BEDF5}"/>
                </a:ext>
              </a:extLst>
            </p:cNvPr>
            <p:cNvGrpSpPr/>
            <p:nvPr/>
          </p:nvGrpSpPr>
          <p:grpSpPr>
            <a:xfrm>
              <a:off x="6229289" y="1940442"/>
              <a:ext cx="584518" cy="494074"/>
              <a:chOff x="6289143" y="1727283"/>
              <a:chExt cx="914400" cy="914402"/>
            </a:xfrm>
            <a:solidFill>
              <a:schemeClr val="accent6">
                <a:lumMod val="60000"/>
                <a:lumOff val="40000"/>
              </a:schemeClr>
            </a:solidFill>
          </p:grpSpPr>
          <p:pic>
            <p:nvPicPr>
              <p:cNvPr id="7" name="Graphic 6" descr="Business Growth with solid fill">
                <a:extLst>
                  <a:ext uri="{FF2B5EF4-FFF2-40B4-BE49-F238E27FC236}">
                    <a16:creationId xmlns:a16="http://schemas.microsoft.com/office/drawing/2014/main" id="{3FF3E603-E5DE-1DDB-8E93-A9F29AC667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289143" y="1727283"/>
                <a:ext cx="914400" cy="914402"/>
              </a:xfrm>
              <a:prstGeom prst="rect">
                <a:avLst/>
              </a:prstGeom>
            </p:spPr>
          </p:pic>
          <p:pic>
            <p:nvPicPr>
              <p:cNvPr id="9" name="Graphic 8" descr="Dollar with solid fill">
                <a:extLst>
                  <a:ext uri="{FF2B5EF4-FFF2-40B4-BE49-F238E27FC236}">
                    <a16:creationId xmlns:a16="http://schemas.microsoft.com/office/drawing/2014/main" id="{89607D99-C6C7-E755-3A11-E8815B217B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536427" y="2352557"/>
                <a:ext cx="218501" cy="21850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52169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CE3DE-9194-7BBA-2CFB-DF4064CDA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CDDAFA-89F0-2E8A-3B8A-D79B572493CD}"/>
              </a:ext>
            </a:extLst>
          </p:cNvPr>
          <p:cNvSpPr txBox="1"/>
          <p:nvPr/>
        </p:nvSpPr>
        <p:spPr>
          <a:xfrm>
            <a:off x="804232" y="561859"/>
            <a:ext cx="1034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Churn is Draining the Bank’s Financial Lifeline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A75CC1F-C171-CD21-2F11-681F1A08B0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1068263"/>
              </p:ext>
            </p:extLst>
          </p:nvPr>
        </p:nvGraphicFramePr>
        <p:xfrm>
          <a:off x="871917" y="1362680"/>
          <a:ext cx="4968606" cy="32564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05F76C3-0C5D-76B1-2923-B3CB1891CD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5874636"/>
              </p:ext>
            </p:extLst>
          </p:nvPr>
        </p:nvGraphicFramePr>
        <p:xfrm>
          <a:off x="6243500" y="1388942"/>
          <a:ext cx="4968000" cy="2975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A093712-F031-6E35-E012-752B4EDE7BC2}"/>
              </a:ext>
            </a:extLst>
          </p:cNvPr>
          <p:cNvCxnSpPr>
            <a:cxnSpLocks/>
          </p:cNvCxnSpPr>
          <p:nvPr/>
        </p:nvCxnSpPr>
        <p:spPr>
          <a:xfrm>
            <a:off x="6118034" y="1549357"/>
            <a:ext cx="0" cy="2719425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11D98F2-ACE8-A989-DCA9-A0621EF61F9C}"/>
              </a:ext>
            </a:extLst>
          </p:cNvPr>
          <p:cNvSpPr/>
          <p:nvPr/>
        </p:nvSpPr>
        <p:spPr>
          <a:xfrm>
            <a:off x="1225020" y="4832920"/>
            <a:ext cx="4262400" cy="1324800"/>
          </a:xfrm>
          <a:prstGeom prst="roundRect">
            <a:avLst>
              <a:gd name="adj" fmla="val 615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High Cost of Replacing “Cheap” Capital</a:t>
            </a:r>
          </a:p>
          <a:p>
            <a:endParaRPr lang="en-U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Losing core deposits forces the bank to replace "cheap" internal funding with expensive market borrowing, directly shrinking profit margins and destabilizing liquidity.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9340450-FA1B-8D6C-88EB-DE9AFC3F1D2F}"/>
              </a:ext>
            </a:extLst>
          </p:cNvPr>
          <p:cNvSpPr/>
          <p:nvPr/>
        </p:nvSpPr>
        <p:spPr>
          <a:xfrm>
            <a:off x="6809523" y="4806658"/>
            <a:ext cx="4262400" cy="1324800"/>
          </a:xfrm>
          <a:prstGeom prst="roundRect">
            <a:avLst>
              <a:gd name="adj" fmla="val 615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Eroding Our High-Margin Revenue Base</a:t>
            </a:r>
          </a:p>
          <a:p>
            <a:endParaRPr lang="en-U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High-earning churn creates a "multiplier loss," as these anchor clients represent the highest potential for lucrative cross-sales like mortgages, investments, and premium credit.</a:t>
            </a:r>
          </a:p>
        </p:txBody>
      </p:sp>
    </p:spTree>
    <p:extLst>
      <p:ext uri="{BB962C8B-B14F-4D97-AF65-F5344CB8AC3E}">
        <p14:creationId xmlns:p14="http://schemas.microsoft.com/office/powerpoint/2010/main" val="3632411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16395-3F97-CC9F-83ED-BBF77A1BF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D328D4-B300-0626-D400-11F7BFCD524C}"/>
              </a:ext>
            </a:extLst>
          </p:cNvPr>
          <p:cNvSpPr txBox="1"/>
          <p:nvPr/>
        </p:nvSpPr>
        <p:spPr>
          <a:xfrm>
            <a:off x="5836348" y="5308965"/>
            <a:ext cx="5480579" cy="100027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H" altLang="en-GH" sz="16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</a:rPr>
              <a:t>Gender-Inclusive Service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GH" sz="4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Google Sans Tex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H" altLang="en-GH" sz="13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Tailor communication and product benefits to address the specific needs of female professionals and heads of households to recoup significant lost revenue.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59DA97-8D98-BA70-6090-0F1538265013}"/>
              </a:ext>
            </a:extLst>
          </p:cNvPr>
          <p:cNvSpPr/>
          <p:nvPr/>
        </p:nvSpPr>
        <p:spPr>
          <a:xfrm>
            <a:off x="258806" y="0"/>
            <a:ext cx="395740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517311-6C96-F55C-EEB8-ABB9CC66D069}"/>
              </a:ext>
            </a:extLst>
          </p:cNvPr>
          <p:cNvSpPr txBox="1"/>
          <p:nvPr/>
        </p:nvSpPr>
        <p:spPr>
          <a:xfrm>
            <a:off x="471545" y="2551837"/>
            <a:ext cx="37556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Turning the Tide: Our Strategic Pivot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DBFBAD4-FA41-FCE0-89BA-B8A5F9A000BC}"/>
              </a:ext>
            </a:extLst>
          </p:cNvPr>
          <p:cNvGrpSpPr/>
          <p:nvPr/>
        </p:nvGrpSpPr>
        <p:grpSpPr>
          <a:xfrm>
            <a:off x="4222525" y="704538"/>
            <a:ext cx="954645" cy="719528"/>
            <a:chOff x="4231951" y="795160"/>
            <a:chExt cx="1206755" cy="91303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E8850C9-EEAD-D10C-07D8-A3336F6A96F0}"/>
                </a:ext>
              </a:extLst>
            </p:cNvPr>
            <p:cNvSpPr/>
            <p:nvPr/>
          </p:nvSpPr>
          <p:spPr>
            <a:xfrm>
              <a:off x="4231951" y="1154243"/>
              <a:ext cx="245385" cy="194872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D340D6B-486B-FFB1-0A0A-CE3CDF64398E}"/>
                </a:ext>
              </a:extLst>
            </p:cNvPr>
            <p:cNvSpPr/>
            <p:nvPr/>
          </p:nvSpPr>
          <p:spPr>
            <a:xfrm>
              <a:off x="4484787" y="795160"/>
              <a:ext cx="953919" cy="913037"/>
            </a:xfrm>
            <a:prstGeom prst="ellipse">
              <a:avLst/>
            </a:prstGeom>
            <a:noFill/>
            <a:ln w="38100">
              <a:gradFill>
                <a:gsLst>
                  <a:gs pos="0">
                    <a:schemeClr val="accent4"/>
                  </a:gs>
                  <a:gs pos="100000">
                    <a:schemeClr val="accent5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BFF0936-76DF-B292-56E7-984B65B4CC1B}"/>
              </a:ext>
            </a:extLst>
          </p:cNvPr>
          <p:cNvSpPr txBox="1"/>
          <p:nvPr/>
        </p:nvSpPr>
        <p:spPr>
          <a:xfrm>
            <a:off x="5836346" y="519435"/>
            <a:ext cx="5480581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GH" sz="1600" b="1" dirty="0">
                <a:solidFill>
                  <a:schemeClr val="accent5"/>
                </a:solidFill>
              </a:rPr>
              <a:t>Wealth Management for Seniors</a:t>
            </a:r>
            <a:endParaRPr kumimoji="0" lang="en-US" altLang="en-GH" sz="1600" b="1" i="0" u="none" strike="noStrike" cap="none" normalizeH="0" baseline="0" dirty="0">
              <a:ln>
                <a:noFill/>
              </a:ln>
              <a:solidFill>
                <a:schemeClr val="accent5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GH" altLang="en-GH" sz="400" b="1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Google Sans Tex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H" sz="1300" dirty="0"/>
              <a:t>Redesign our value proposition for the 45–60 demographic. This should include loyalty interest rates, dedicated financial advisors, and specialized retirement planning to counter the near 50% churn rate in this group</a:t>
            </a:r>
            <a:r>
              <a:rPr kumimoji="0" lang="en-GH" altLang="en-GH" sz="13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oogle Sans Text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07687F-40B4-D400-E357-EAA3FD9ACF9B}"/>
              </a:ext>
            </a:extLst>
          </p:cNvPr>
          <p:cNvSpPr txBox="1"/>
          <p:nvPr/>
        </p:nvSpPr>
        <p:spPr>
          <a:xfrm>
            <a:off x="5836351" y="1717906"/>
            <a:ext cx="5480579" cy="100027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H" altLang="en-GH" sz="16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</a:rPr>
              <a:t>German Market Audit</a:t>
            </a:r>
            <a:endParaRPr kumimoji="0" lang="en-US" altLang="en-GH" sz="1600" b="1" i="0" u="none" strike="noStrike" cap="none" normalizeH="0" baseline="0" dirty="0">
              <a:ln>
                <a:noFill/>
              </a:ln>
              <a:solidFill>
                <a:schemeClr val="accent5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GH" altLang="en-GH" sz="400" b="1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Google Sans Tex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H" altLang="en-GH" sz="13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Conduct a deep-dive competitive analysis and service audit in Germany to identify if the high churn is due to localized competitor offers or poor regional service quality.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988EC8-2FE8-9448-65FB-A794D96B2263}"/>
              </a:ext>
            </a:extLst>
          </p:cNvPr>
          <p:cNvSpPr txBox="1"/>
          <p:nvPr/>
        </p:nvSpPr>
        <p:spPr>
          <a:xfrm>
            <a:off x="5836350" y="2914926"/>
            <a:ext cx="5480579" cy="100027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H" altLang="en-GH" sz="16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</a:rPr>
              <a:t>Optimization of Product Mix</a:t>
            </a:r>
            <a:endParaRPr kumimoji="0" lang="en-US" altLang="en-GH" sz="1600" b="1" i="0" u="none" strike="noStrike" cap="none" normalizeH="0" baseline="0" dirty="0">
              <a:ln>
                <a:noFill/>
              </a:ln>
              <a:solidFill>
                <a:schemeClr val="accent5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GH" altLang="en-GH" sz="400" b="1" i="0" u="none" strike="noStrike" cap="none" normalizeH="0" baseline="0" dirty="0">
              <a:ln>
                <a:noFill/>
              </a:ln>
              <a:solidFill>
                <a:schemeClr val="accent5"/>
              </a:solidFill>
              <a:effectLst/>
              <a:latin typeface="Google Sans Tex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H" altLang="en-GH" sz="13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Pivot marketing </a:t>
            </a:r>
            <a:r>
              <a:rPr kumimoji="0" lang="en-US" altLang="en-GH" sz="13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efforts and incentives </a:t>
            </a:r>
            <a:r>
              <a:rPr kumimoji="0" lang="en-GH" altLang="en-GH" sz="13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to move 1-</a:t>
            </a:r>
            <a:r>
              <a:rPr lang="en-US" altLang="en-GH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Product</a:t>
            </a:r>
            <a:r>
              <a:rPr kumimoji="0" lang="en-GH" altLang="en-GH" sz="13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customers to a 2-</a:t>
            </a:r>
            <a:r>
              <a:rPr kumimoji="0" lang="en-US" altLang="en-GH" sz="13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Product</a:t>
            </a:r>
            <a:r>
              <a:rPr kumimoji="0" lang="en-GH" altLang="en-GH" sz="13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"Anchor" status. Investigate the 3+ product segment to remove service friction or fee structures that are driving those customers away.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98DE5A-72C7-7460-400C-D52DE779F930}"/>
              </a:ext>
            </a:extLst>
          </p:cNvPr>
          <p:cNvSpPr txBox="1"/>
          <p:nvPr/>
        </p:nvSpPr>
        <p:spPr>
          <a:xfrm>
            <a:off x="5836348" y="4111946"/>
            <a:ext cx="5480579" cy="100027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GH" sz="1600" b="1" dirty="0">
                <a:solidFill>
                  <a:schemeClr val="accent5"/>
                </a:solidFill>
              </a:rPr>
              <a:t>Affluent Customer</a:t>
            </a:r>
            <a:r>
              <a:rPr kumimoji="0" lang="en-GH" altLang="en-GH" sz="16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</a:rPr>
              <a:t> Re-engagement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GH" sz="4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Google Sans Tex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H" altLang="en-GH" sz="13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Use predictive triggers to flag </a:t>
            </a:r>
            <a:r>
              <a:rPr lang="en-US" altLang="en-GH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</a:t>
            </a:r>
            <a:r>
              <a:rPr kumimoji="0" lang="en-GH" altLang="en-GH" sz="13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active</a:t>
            </a:r>
            <a:r>
              <a:rPr kumimoji="0" lang="en-US" altLang="en-GH" sz="13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en-US" altLang="en-GH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</a:t>
            </a:r>
            <a:r>
              <a:rPr kumimoji="0" lang="en-US" altLang="en-GH" sz="13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ustomers</a:t>
            </a:r>
            <a:r>
              <a:rPr kumimoji="0" lang="en-GH" altLang="en-GH" sz="13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with balance </a:t>
            </a:r>
            <a:r>
              <a:rPr kumimoji="0" lang="en-US" altLang="en-GH" sz="13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of</a:t>
            </a:r>
            <a:r>
              <a:rPr lang="en-US" altLang="en-GH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kumimoji="0" lang="en-GH" altLang="en-GH" sz="13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$</a:t>
            </a:r>
            <a:r>
              <a:rPr kumimoji="0" lang="en-US" altLang="en-GH" sz="13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10</a:t>
            </a:r>
            <a:r>
              <a:rPr kumimoji="0" lang="en-GH" altLang="en-GH" sz="13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0</a:t>
            </a:r>
            <a:r>
              <a:rPr kumimoji="0" lang="en-US" altLang="en-GH" sz="13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K+</a:t>
            </a:r>
            <a:r>
              <a:rPr lang="en-US" altLang="en-GH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kumimoji="0" lang="en-GH" altLang="en-GH" sz="13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for </a:t>
            </a:r>
            <a:r>
              <a:rPr lang="en-US" altLang="en-GH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swift</a:t>
            </a:r>
            <a:r>
              <a:rPr kumimoji="0" lang="en-GH" altLang="en-GH" sz="13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personal outreach and "active-status" incentives (e.g., fee waivers for 6 months</a:t>
            </a:r>
            <a:r>
              <a:rPr kumimoji="0" lang="en-US" altLang="en-GH" sz="13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, premium loan rates, and bonuses for referrals</a:t>
            </a:r>
            <a:r>
              <a:rPr kumimoji="0" lang="en-GH" altLang="en-GH" sz="13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).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40434F4-AB60-618B-F136-D165046D0B21}"/>
              </a:ext>
            </a:extLst>
          </p:cNvPr>
          <p:cNvGrpSpPr/>
          <p:nvPr/>
        </p:nvGrpSpPr>
        <p:grpSpPr>
          <a:xfrm>
            <a:off x="4217799" y="1872942"/>
            <a:ext cx="954645" cy="719528"/>
            <a:chOff x="4231951" y="795160"/>
            <a:chExt cx="1206755" cy="91303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126B4B8-8477-6905-FF07-FD72B3B22436}"/>
                </a:ext>
              </a:extLst>
            </p:cNvPr>
            <p:cNvSpPr/>
            <p:nvPr/>
          </p:nvSpPr>
          <p:spPr>
            <a:xfrm>
              <a:off x="4231951" y="1154243"/>
              <a:ext cx="245385" cy="194872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1691C93-6679-F561-9296-50F4C81A79C5}"/>
                </a:ext>
              </a:extLst>
            </p:cNvPr>
            <p:cNvSpPr/>
            <p:nvPr/>
          </p:nvSpPr>
          <p:spPr>
            <a:xfrm>
              <a:off x="4484787" y="795160"/>
              <a:ext cx="953919" cy="913037"/>
            </a:xfrm>
            <a:prstGeom prst="ellipse">
              <a:avLst/>
            </a:prstGeom>
            <a:noFill/>
            <a:ln w="38100">
              <a:gradFill>
                <a:gsLst>
                  <a:gs pos="0">
                    <a:schemeClr val="accent4"/>
                  </a:gs>
                  <a:gs pos="100000">
                    <a:schemeClr val="accent5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6FB6F2C-3A32-D03D-620B-B35190B6C6E2}"/>
              </a:ext>
            </a:extLst>
          </p:cNvPr>
          <p:cNvGrpSpPr/>
          <p:nvPr/>
        </p:nvGrpSpPr>
        <p:grpSpPr>
          <a:xfrm>
            <a:off x="4217799" y="3041346"/>
            <a:ext cx="954645" cy="719528"/>
            <a:chOff x="4231951" y="795160"/>
            <a:chExt cx="1206755" cy="913037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CC98C67-CD46-ED8E-B105-15B551BBA260}"/>
                </a:ext>
              </a:extLst>
            </p:cNvPr>
            <p:cNvSpPr/>
            <p:nvPr/>
          </p:nvSpPr>
          <p:spPr>
            <a:xfrm>
              <a:off x="4231951" y="1154243"/>
              <a:ext cx="245385" cy="194872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6CDBC29-A735-2BA1-BBF0-309C4CB49D70}"/>
                </a:ext>
              </a:extLst>
            </p:cNvPr>
            <p:cNvSpPr/>
            <p:nvPr/>
          </p:nvSpPr>
          <p:spPr>
            <a:xfrm>
              <a:off x="4484787" y="795160"/>
              <a:ext cx="953919" cy="913037"/>
            </a:xfrm>
            <a:prstGeom prst="ellipse">
              <a:avLst/>
            </a:prstGeom>
            <a:noFill/>
            <a:ln w="38100">
              <a:gradFill>
                <a:gsLst>
                  <a:gs pos="0">
                    <a:schemeClr val="accent4"/>
                  </a:gs>
                  <a:gs pos="100000">
                    <a:schemeClr val="accent5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6102CD7-A6AF-3CD9-5CD9-3BCC47FAF14A}"/>
              </a:ext>
            </a:extLst>
          </p:cNvPr>
          <p:cNvGrpSpPr/>
          <p:nvPr/>
        </p:nvGrpSpPr>
        <p:grpSpPr>
          <a:xfrm>
            <a:off x="4217799" y="4269630"/>
            <a:ext cx="954645" cy="719528"/>
            <a:chOff x="4231951" y="795160"/>
            <a:chExt cx="1206755" cy="913037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8A7129-F5AC-8476-8718-5D520D07D3F8}"/>
                </a:ext>
              </a:extLst>
            </p:cNvPr>
            <p:cNvSpPr/>
            <p:nvPr/>
          </p:nvSpPr>
          <p:spPr>
            <a:xfrm>
              <a:off x="4231951" y="1154243"/>
              <a:ext cx="245385" cy="194872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7E53D34-F0E6-027F-8A86-2C3DE079859D}"/>
                </a:ext>
              </a:extLst>
            </p:cNvPr>
            <p:cNvSpPr/>
            <p:nvPr/>
          </p:nvSpPr>
          <p:spPr>
            <a:xfrm>
              <a:off x="4484787" y="795160"/>
              <a:ext cx="953919" cy="913037"/>
            </a:xfrm>
            <a:prstGeom prst="ellipse">
              <a:avLst/>
            </a:prstGeom>
            <a:noFill/>
            <a:ln w="38100">
              <a:gradFill>
                <a:gsLst>
                  <a:gs pos="0">
                    <a:schemeClr val="accent4"/>
                  </a:gs>
                  <a:gs pos="100000">
                    <a:schemeClr val="accent5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DF21719-5B2A-9215-4529-8EBBE8E2D543}"/>
              </a:ext>
            </a:extLst>
          </p:cNvPr>
          <p:cNvGrpSpPr/>
          <p:nvPr/>
        </p:nvGrpSpPr>
        <p:grpSpPr>
          <a:xfrm>
            <a:off x="4217799" y="5464001"/>
            <a:ext cx="954645" cy="719528"/>
            <a:chOff x="4231951" y="795160"/>
            <a:chExt cx="1206755" cy="91303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B933D51-2CF5-27CF-FB6F-3D73597D325C}"/>
                </a:ext>
              </a:extLst>
            </p:cNvPr>
            <p:cNvSpPr/>
            <p:nvPr/>
          </p:nvSpPr>
          <p:spPr>
            <a:xfrm>
              <a:off x="4231951" y="1154243"/>
              <a:ext cx="245385" cy="194872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0B91C9-37D5-FD13-CCDF-A3B1EE32091D}"/>
                </a:ext>
              </a:extLst>
            </p:cNvPr>
            <p:cNvSpPr/>
            <p:nvPr/>
          </p:nvSpPr>
          <p:spPr>
            <a:xfrm>
              <a:off x="4484787" y="795160"/>
              <a:ext cx="953919" cy="913037"/>
            </a:xfrm>
            <a:prstGeom prst="ellipse">
              <a:avLst/>
            </a:prstGeom>
            <a:noFill/>
            <a:ln w="38100">
              <a:gradFill>
                <a:gsLst>
                  <a:gs pos="0">
                    <a:schemeClr val="accent4"/>
                  </a:gs>
                  <a:gs pos="100000">
                    <a:schemeClr val="accent5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H" dirty="0"/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058A738-C3A9-16C6-35F6-6190D5E4CDA1}"/>
              </a:ext>
            </a:extLst>
          </p:cNvPr>
          <p:cNvCxnSpPr/>
          <p:nvPr/>
        </p:nvCxnSpPr>
        <p:spPr>
          <a:xfrm>
            <a:off x="5926286" y="1655416"/>
            <a:ext cx="5316336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EF95A8F-95F7-B952-22F0-E64131A6FCDA}"/>
              </a:ext>
            </a:extLst>
          </p:cNvPr>
          <p:cNvCxnSpPr/>
          <p:nvPr/>
        </p:nvCxnSpPr>
        <p:spPr>
          <a:xfrm>
            <a:off x="5926286" y="2831452"/>
            <a:ext cx="5316336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DEFA8F4-2CD8-B496-8997-ED4BDEFE14B1}"/>
              </a:ext>
            </a:extLst>
          </p:cNvPr>
          <p:cNvCxnSpPr/>
          <p:nvPr/>
        </p:nvCxnSpPr>
        <p:spPr>
          <a:xfrm>
            <a:off x="5926286" y="4037468"/>
            <a:ext cx="5316336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BCF456A-3537-E699-68BD-912B223A09AD}"/>
              </a:ext>
            </a:extLst>
          </p:cNvPr>
          <p:cNvCxnSpPr/>
          <p:nvPr/>
        </p:nvCxnSpPr>
        <p:spPr>
          <a:xfrm>
            <a:off x="5926286" y="5213504"/>
            <a:ext cx="5316336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099427C1-D860-A35A-C8FF-7ED5403E55B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327" y="3181210"/>
            <a:ext cx="454462" cy="45446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F55C9DB-F698-4C0A-2594-3C7CEDCD1C6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930" y="5559257"/>
            <a:ext cx="486000" cy="4860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4AA0E595-DE3B-293B-5696-79538CA5D7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5464" y="2043614"/>
            <a:ext cx="374400" cy="3744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20047787-71AF-9397-F843-9D35908841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50323" y="812742"/>
            <a:ext cx="515499" cy="515499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29F0B69A-3245-5258-BDC8-D323196B76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5864" y="4399946"/>
            <a:ext cx="453600" cy="4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770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C7E4B-B251-8855-7B6F-C412F80D0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DD785E-3493-CBBE-A130-A89638D51805}"/>
              </a:ext>
            </a:extLst>
          </p:cNvPr>
          <p:cNvSpPr txBox="1"/>
          <p:nvPr/>
        </p:nvSpPr>
        <p:spPr>
          <a:xfrm>
            <a:off x="2064471" y="2958970"/>
            <a:ext cx="78324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5"/>
                </a:solidFill>
              </a:rPr>
              <a:t>The Time to Turn the Tide is Now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30B646-8ABF-3DAD-F773-B60ECF1EFCCB}"/>
              </a:ext>
            </a:extLst>
          </p:cNvPr>
          <p:cNvSpPr txBox="1"/>
          <p:nvPr/>
        </p:nvSpPr>
        <p:spPr>
          <a:xfrm>
            <a:off x="3906586" y="3807250"/>
            <a:ext cx="40394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We welcome your questions and discussions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DBF65D0-701C-9240-D5C8-C8C9A94852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8942" y="2479213"/>
            <a:ext cx="972000" cy="972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00ED0DF-2037-2BDB-3B1C-F48CA19772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5257" y="2503447"/>
            <a:ext cx="972000" cy="9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38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2292A"/>
      </a:accent1>
      <a:accent2>
        <a:srgbClr val="74A7B5"/>
      </a:accent2>
      <a:accent3>
        <a:srgbClr val="ABC4C7"/>
      </a:accent3>
      <a:accent4>
        <a:srgbClr val="2C879D"/>
      </a:accent4>
      <a:accent5>
        <a:srgbClr val="1A6C7E"/>
      </a:accent5>
      <a:accent6>
        <a:srgbClr val="ED7D31"/>
      </a:accent6>
      <a:hlink>
        <a:srgbClr val="FC990C"/>
      </a:hlink>
      <a:folHlink>
        <a:srgbClr val="A74A08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ustom 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12292A"/>
    </a:accent1>
    <a:accent2>
      <a:srgbClr val="74A7B5"/>
    </a:accent2>
    <a:accent3>
      <a:srgbClr val="ABC4C7"/>
    </a:accent3>
    <a:accent4>
      <a:srgbClr val="2C879D"/>
    </a:accent4>
    <a:accent5>
      <a:srgbClr val="1A6C7E"/>
    </a:accent5>
    <a:accent6>
      <a:srgbClr val="ED7D31"/>
    </a:accent6>
    <a:hlink>
      <a:srgbClr val="FC990C"/>
    </a:hlink>
    <a:folHlink>
      <a:srgbClr val="A74A08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Custom 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12292A"/>
    </a:accent1>
    <a:accent2>
      <a:srgbClr val="74A7B5"/>
    </a:accent2>
    <a:accent3>
      <a:srgbClr val="ABC4C7"/>
    </a:accent3>
    <a:accent4>
      <a:srgbClr val="2C879D"/>
    </a:accent4>
    <a:accent5>
      <a:srgbClr val="1A6C7E"/>
    </a:accent5>
    <a:accent6>
      <a:srgbClr val="ED7D31"/>
    </a:accent6>
    <a:hlink>
      <a:srgbClr val="FC990C"/>
    </a:hlink>
    <a:folHlink>
      <a:srgbClr val="A74A08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Custom 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12292A"/>
    </a:accent1>
    <a:accent2>
      <a:srgbClr val="74A7B5"/>
    </a:accent2>
    <a:accent3>
      <a:srgbClr val="ABC4C7"/>
    </a:accent3>
    <a:accent4>
      <a:srgbClr val="2C879D"/>
    </a:accent4>
    <a:accent5>
      <a:srgbClr val="1A6C7E"/>
    </a:accent5>
    <a:accent6>
      <a:srgbClr val="ED7D31"/>
    </a:accent6>
    <a:hlink>
      <a:srgbClr val="FC990C"/>
    </a:hlink>
    <a:folHlink>
      <a:srgbClr val="A74A08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Custom 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12292A"/>
    </a:accent1>
    <a:accent2>
      <a:srgbClr val="74A7B5"/>
    </a:accent2>
    <a:accent3>
      <a:srgbClr val="ABC4C7"/>
    </a:accent3>
    <a:accent4>
      <a:srgbClr val="2C879D"/>
    </a:accent4>
    <a:accent5>
      <a:srgbClr val="1A6C7E"/>
    </a:accent5>
    <a:accent6>
      <a:srgbClr val="ED7D31"/>
    </a:accent6>
    <a:hlink>
      <a:srgbClr val="FC990C"/>
    </a:hlink>
    <a:folHlink>
      <a:srgbClr val="A74A08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Custom 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12292A"/>
    </a:accent1>
    <a:accent2>
      <a:srgbClr val="74A7B5"/>
    </a:accent2>
    <a:accent3>
      <a:srgbClr val="ABC4C7"/>
    </a:accent3>
    <a:accent4>
      <a:srgbClr val="2C879D"/>
    </a:accent4>
    <a:accent5>
      <a:srgbClr val="1A6C7E"/>
    </a:accent5>
    <a:accent6>
      <a:srgbClr val="ED7D31"/>
    </a:accent6>
    <a:hlink>
      <a:srgbClr val="FC990C"/>
    </a:hlink>
    <a:folHlink>
      <a:srgbClr val="A74A08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Custom 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12292A"/>
    </a:accent1>
    <a:accent2>
      <a:srgbClr val="74A7B5"/>
    </a:accent2>
    <a:accent3>
      <a:srgbClr val="ABC4C7"/>
    </a:accent3>
    <a:accent4>
      <a:srgbClr val="2C879D"/>
    </a:accent4>
    <a:accent5>
      <a:srgbClr val="1A6C7E"/>
    </a:accent5>
    <a:accent6>
      <a:srgbClr val="ED7D31"/>
    </a:accent6>
    <a:hlink>
      <a:srgbClr val="FC990C"/>
    </a:hlink>
    <a:folHlink>
      <a:srgbClr val="A74A08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Custom 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12292A"/>
    </a:accent1>
    <a:accent2>
      <a:srgbClr val="74A7B5"/>
    </a:accent2>
    <a:accent3>
      <a:srgbClr val="ABC4C7"/>
    </a:accent3>
    <a:accent4>
      <a:srgbClr val="2C879D"/>
    </a:accent4>
    <a:accent5>
      <a:srgbClr val="1A6C7E"/>
    </a:accent5>
    <a:accent6>
      <a:srgbClr val="ED7D31"/>
    </a:accent6>
    <a:hlink>
      <a:srgbClr val="FC990C"/>
    </a:hlink>
    <a:folHlink>
      <a:srgbClr val="A74A08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10583</TotalTime>
  <Words>1009</Words>
  <Application>Microsoft Office PowerPoint</Application>
  <PresentationFormat>Widescreen</PresentationFormat>
  <Paragraphs>228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Arial Narrow</vt:lpstr>
      <vt:lpstr>Calibri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Justice Paintsil</dc:creator>
  <cp:lastModifiedBy>Justice Paintsil</cp:lastModifiedBy>
  <cp:revision>62</cp:revision>
  <dcterms:created xsi:type="dcterms:W3CDTF">2026-02-25T19:22:18Z</dcterms:created>
  <dcterms:modified xsi:type="dcterms:W3CDTF">2026-04-30T09:12:16Z</dcterms:modified>
</cp:coreProperties>
</file>